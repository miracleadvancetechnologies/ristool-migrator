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5143500" cx="9144000"/>
  <p:notesSz cx="6858000" cy="9144000"/>
  <p:embeddedFontLst>
    <p:embeddedFont>
      <p:font typeface="Economica"/>
      <p:regular r:id="rId73"/>
      <p:bold r:id="rId74"/>
      <p:italic r:id="rId75"/>
      <p:boldItalic r:id="rId76"/>
    </p:embeddedFont>
    <p:embeddedFont>
      <p:font typeface="Roboto"/>
      <p:regular r:id="rId77"/>
      <p:bold r:id="rId78"/>
      <p:italic r:id="rId79"/>
      <p:boldItalic r:id="rId80"/>
    </p:embeddedFont>
    <p:embeddedFont>
      <p:font typeface="Montserrat"/>
      <p:regular r:id="rId81"/>
      <p:bold r:id="rId82"/>
      <p:italic r:id="rId83"/>
      <p:boldItalic r:id="rId84"/>
    </p:embeddedFont>
    <p:embeddedFont>
      <p:font typeface="Roboto Mono"/>
      <p:regular r:id="rId85"/>
      <p:bold r:id="rId86"/>
      <p:italic r:id="rId87"/>
      <p:boldItalic r:id="rId88"/>
    </p:embeddedFont>
    <p:embeddedFont>
      <p:font typeface="Open Sans"/>
      <p:regular r:id="rId89"/>
      <p:bold r:id="rId90"/>
      <p:italic r:id="rId91"/>
      <p:boldItalic r:id="rId9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Montserrat-boldItalic.fntdata"/><Relationship Id="rId83" Type="http://schemas.openxmlformats.org/officeDocument/2006/relationships/font" Target="fonts/Montserrat-italic.fntdata"/><Relationship Id="rId42" Type="http://schemas.openxmlformats.org/officeDocument/2006/relationships/slide" Target="slides/slide37.xml"/><Relationship Id="rId86" Type="http://schemas.openxmlformats.org/officeDocument/2006/relationships/font" Target="fonts/RobotoMono-bold.fntdata"/><Relationship Id="rId41" Type="http://schemas.openxmlformats.org/officeDocument/2006/relationships/slide" Target="slides/slide36.xml"/><Relationship Id="rId85" Type="http://schemas.openxmlformats.org/officeDocument/2006/relationships/font" Target="fonts/RobotoMono-regular.fntdata"/><Relationship Id="rId44" Type="http://schemas.openxmlformats.org/officeDocument/2006/relationships/slide" Target="slides/slide39.xml"/><Relationship Id="rId88" Type="http://schemas.openxmlformats.org/officeDocument/2006/relationships/font" Target="fonts/RobotoMono-boldItalic.fntdata"/><Relationship Id="rId43" Type="http://schemas.openxmlformats.org/officeDocument/2006/relationships/slide" Target="slides/slide38.xml"/><Relationship Id="rId87" Type="http://schemas.openxmlformats.org/officeDocument/2006/relationships/font" Target="fonts/RobotoMono-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OpenSans-regular.fntdata"/><Relationship Id="rId80" Type="http://schemas.openxmlformats.org/officeDocument/2006/relationships/font" Target="fonts/Roboto-boldItalic.fntdata"/><Relationship Id="rId82" Type="http://schemas.openxmlformats.org/officeDocument/2006/relationships/font" Target="fonts/Montserrat-bold.fntdata"/><Relationship Id="rId81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Economica-regular.fntdata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Economica-italic.fntdata"/><Relationship Id="rId30" Type="http://schemas.openxmlformats.org/officeDocument/2006/relationships/slide" Target="slides/slide25.xml"/><Relationship Id="rId74" Type="http://schemas.openxmlformats.org/officeDocument/2006/relationships/font" Target="fonts/Economica-bold.fntdata"/><Relationship Id="rId33" Type="http://schemas.openxmlformats.org/officeDocument/2006/relationships/slide" Target="slides/slide28.xml"/><Relationship Id="rId77" Type="http://schemas.openxmlformats.org/officeDocument/2006/relationships/font" Target="fonts/Roboto-regular.fntdata"/><Relationship Id="rId32" Type="http://schemas.openxmlformats.org/officeDocument/2006/relationships/slide" Target="slides/slide27.xml"/><Relationship Id="rId76" Type="http://schemas.openxmlformats.org/officeDocument/2006/relationships/font" Target="fonts/Economica-boldItalic.fntdata"/><Relationship Id="rId35" Type="http://schemas.openxmlformats.org/officeDocument/2006/relationships/slide" Target="slides/slide30.xml"/><Relationship Id="rId79" Type="http://schemas.openxmlformats.org/officeDocument/2006/relationships/font" Target="fonts/Roboto-italic.fntdata"/><Relationship Id="rId34" Type="http://schemas.openxmlformats.org/officeDocument/2006/relationships/slide" Target="slides/slide29.xml"/><Relationship Id="rId78" Type="http://schemas.openxmlformats.org/officeDocument/2006/relationships/font" Target="fonts/Roboto-bold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OpenSans-italic.fntdata"/><Relationship Id="rId90" Type="http://schemas.openxmlformats.org/officeDocument/2006/relationships/font" Target="fonts/OpenSans-bold.fntdata"/><Relationship Id="rId92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Comprehensive overview of ERP Cloud Software Development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ERP Cloud framework analysis and Knowledge 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45285729d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45285729d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3f43f01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3f43f01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overview of our workflow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3f43f01df_2_2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f3f43f01df_2_2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3f43f01df_2_2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f3f43f01df_2_2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3f43f01df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f3f43f01df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3f43f01df_2_2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f3f43f01df_2_2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3f43f01df_2_2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f3f43f01df_2_2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3f43f01df_2_2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f3f43f01df_2_2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proper documentation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3f43f01df_2_2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f3f43f01df_2_2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agnostic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f3f43f01df_2_2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f3f43f01df_2_2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f3f43f01df_2_3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f3f43f01df_2_3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convention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 convention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 while coding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review, approval, test case passing (CI/CD in github workflow) in Pull Req, then merge to Main and Deploy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45285729d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f45285729d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upfront cost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45285729d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f45285729d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f45285729d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f45285729d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f3f43f01d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f3f43f01d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45285729d_5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f45285729d_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f3f43f01df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f3f43f01df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f3f43f01df_5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f3f43f01df_5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f3f43f01df_5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f3f43f01df_5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f3f43f01df_5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f3f43f01df_5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3f43f01df_5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f3f43f01df_5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3f43f01df_5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f3f43f01df_5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f3f43f01df_5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f3f43f01df_5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3f43f01df_5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f3f43f01df_5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f3f43f01df_4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f3f43f01df_4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f3f43f01df_5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f3f43f01df_5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f3f43f01df_5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2f3f43f01df_5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f3f43f01df_5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f3f43f01df_5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f3f43f01df_5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f3f43f01df_5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f3f43f01df_5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f3f43f01df_5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f3f43f01df_5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f3f43f01df_5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f3f43f01df_5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f3f43f01df_5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f3f43f01df_5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f3f43f01df_5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f3f43f01d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f3f43f01d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f45285729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f45285729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f3f43f01df_5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f3f43f01df_5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f3f43f01df_5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f3f43f01df_5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f3f43f01df_5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f3f43f01df_5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f45285729d_4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2f45285729d_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f45285729d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2f45285729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2f45285729d_4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2f45285729d_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f45285729d_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f45285729d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f45285729d_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2f45285729d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f45285729d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2f45285729d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f45285729d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f45285729d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f3f43f01d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f3f43f01d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45285729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2f45285729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f3f43f01df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f3f43f01df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f3f43f01d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f3f43f01d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f4290e859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f4290e859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f4290e859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f4290e859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f3f43f01d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f3f43f01d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f45285729d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f45285729d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f45285729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f45285729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f45285729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f45285729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f3f43f01df_5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2f3f43f01df_5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f45285729d_4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f45285729d_4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f3f43f01d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f3f43f01d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f45285729d_4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f45285729d_4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f3f43f01df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f3f43f01d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f3f43f01d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f3f43f01d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f45285729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f45285729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f45285729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f45285729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f45285729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f45285729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f3f43f01d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f3f43f01d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f45285729d_4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f45285729d_4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11" Type="http://schemas.openxmlformats.org/officeDocument/2006/relationships/image" Target="../media/image9.png"/><Relationship Id="rId10" Type="http://schemas.openxmlformats.org/officeDocument/2006/relationships/image" Target="../media/image3.png"/><Relationship Id="rId9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22.png"/><Relationship Id="rId8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35.png"/><Relationship Id="rId6" Type="http://schemas.openxmlformats.org/officeDocument/2006/relationships/image" Target="../media/image31.png"/><Relationship Id="rId7" Type="http://schemas.openxmlformats.org/officeDocument/2006/relationships/image" Target="../media/image23.png"/><Relationship Id="rId8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Relationship Id="rId4" Type="http://schemas.openxmlformats.org/officeDocument/2006/relationships/image" Target="../media/image14.png"/><Relationship Id="rId9" Type="http://schemas.openxmlformats.org/officeDocument/2006/relationships/image" Target="../media/image24.png"/><Relationship Id="rId5" Type="http://schemas.openxmlformats.org/officeDocument/2006/relationships/image" Target="../media/image11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5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medium.com/deno-the-complete-reference/list-of-all-of-my-real-world-performance-comparisons-a8e9182ac50" TargetMode="External"/><Relationship Id="rId4" Type="http://schemas.openxmlformats.org/officeDocument/2006/relationships/image" Target="../media/image5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0.png"/><Relationship Id="rId4" Type="http://schemas.openxmlformats.org/officeDocument/2006/relationships/image" Target="../media/image47.png"/><Relationship Id="rId5" Type="http://schemas.openxmlformats.org/officeDocument/2006/relationships/image" Target="../media/image3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6.png"/><Relationship Id="rId4" Type="http://schemas.openxmlformats.org/officeDocument/2006/relationships/image" Target="../media/image56.png"/><Relationship Id="rId11" Type="http://schemas.openxmlformats.org/officeDocument/2006/relationships/image" Target="../media/image52.png"/><Relationship Id="rId10" Type="http://schemas.openxmlformats.org/officeDocument/2006/relationships/image" Target="../media/image44.png"/><Relationship Id="rId9" Type="http://schemas.openxmlformats.org/officeDocument/2006/relationships/image" Target="../media/image39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38.png"/><Relationship Id="rId8" Type="http://schemas.openxmlformats.org/officeDocument/2006/relationships/image" Target="../media/image3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3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Relationship Id="rId6" Type="http://schemas.openxmlformats.org/officeDocument/2006/relationships/image" Target="../media/image5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7.png"/><Relationship Id="rId4" Type="http://schemas.openxmlformats.org/officeDocument/2006/relationships/image" Target="../media/image60.png"/><Relationship Id="rId5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9.png"/><Relationship Id="rId4" Type="http://schemas.openxmlformats.org/officeDocument/2006/relationships/image" Target="../media/image69.png"/><Relationship Id="rId5" Type="http://schemas.openxmlformats.org/officeDocument/2006/relationships/image" Target="../media/image5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9.png"/><Relationship Id="rId4" Type="http://schemas.openxmlformats.org/officeDocument/2006/relationships/image" Target="../media/image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9.png"/><Relationship Id="rId4" Type="http://schemas.openxmlformats.org/officeDocument/2006/relationships/image" Target="../media/image6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7.png"/><Relationship Id="rId4" Type="http://schemas.openxmlformats.org/officeDocument/2006/relationships/image" Target="../media/image6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://40.40.11.103:5173/backend/api/CONTRIBUTION.html" TargetMode="External"/><Relationship Id="rId4" Type="http://schemas.openxmlformats.org/officeDocument/2006/relationships/hyperlink" Target="https://pride-erp-cloud.github.io/accounting-module/redoc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772925" y="1358625"/>
            <a:ext cx="3598200" cy="15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Comprehensive Overview of ERP Cloud Software Development</a:t>
            </a:r>
            <a:endParaRPr b="1" sz="30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Collaborative Session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</a:t>
            </a:r>
            <a:endParaRPr/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 rot="-711236">
            <a:off x="6465750" y="299560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/>
          <p:nvPr/>
        </p:nvSpPr>
        <p:spPr>
          <a:xfrm flipH="1" rot="711236">
            <a:off x="5181012" y="299560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5586175" y="3051644"/>
            <a:ext cx="1712700" cy="970309"/>
            <a:chOff x="5796625" y="2541798"/>
            <a:chExt cx="1712700" cy="970309"/>
          </a:xfrm>
        </p:grpSpPr>
        <p:sp>
          <p:nvSpPr>
            <p:cNvPr id="78" name="Google Shape;78;p15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6296613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Review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5796625" y="3069007"/>
              <a:ext cx="1712700" cy="4431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5832975" y="3121216"/>
              <a:ext cx="1624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Peer Review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3" name="Google Shape;83;p15"/>
          <p:cNvSpPr/>
          <p:nvPr/>
        </p:nvSpPr>
        <p:spPr>
          <a:xfrm rot="-711236">
            <a:off x="3899938" y="299560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4333100" y="1750472"/>
            <a:ext cx="1712700" cy="1246754"/>
            <a:chOff x="4409300" y="1219942"/>
            <a:chExt cx="1712700" cy="1246754"/>
          </a:xfrm>
        </p:grpSpPr>
        <p:sp>
          <p:nvSpPr>
            <p:cNvPr id="85" name="Google Shape;85;p15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4921731" y="1985297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Test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" name="Google Shape;88;p15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4453550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Unit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Integration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Performance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0" name="Google Shape;90;p15"/>
          <p:cNvSpPr/>
          <p:nvPr/>
        </p:nvSpPr>
        <p:spPr>
          <a:xfrm flipH="1" rot="711236">
            <a:off x="2608258" y="299560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1" name="Google Shape;91;p15"/>
          <p:cNvGrpSpPr/>
          <p:nvPr/>
        </p:nvGrpSpPr>
        <p:grpSpPr>
          <a:xfrm>
            <a:off x="3076688" y="3051644"/>
            <a:ext cx="1712700" cy="1230715"/>
            <a:chOff x="3021975" y="2541798"/>
            <a:chExt cx="1712700" cy="1230715"/>
          </a:xfrm>
        </p:grpSpPr>
        <p:sp>
          <p:nvSpPr>
            <p:cNvPr id="92" name="Google Shape;92;p15"/>
            <p:cNvSpPr txBox="1"/>
            <p:nvPr/>
          </p:nvSpPr>
          <p:spPr>
            <a:xfrm>
              <a:off x="3353361" y="2735579"/>
              <a:ext cx="10500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solidFill>
                    <a:srgbClr val="1B78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Develop</a:t>
              </a:r>
              <a:endParaRPr b="1" sz="1000">
                <a:solidFill>
                  <a:srgbClr val="1B786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1B78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306622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Backend</a:t>
              </a:r>
              <a:endParaRPr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Frontend</a:t>
              </a:r>
              <a:endParaRPr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Database</a:t>
              </a:r>
              <a:endParaRPr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7" name="Google Shape;97;p15"/>
          <p:cNvSpPr/>
          <p:nvPr/>
        </p:nvSpPr>
        <p:spPr>
          <a:xfrm rot="-711236">
            <a:off x="1334133" y="299560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1789875" y="1504113"/>
            <a:ext cx="1712700" cy="949800"/>
          </a:xfrm>
          <a:prstGeom prst="roundRect">
            <a:avLst>
              <a:gd fmla="val 4485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2296944" y="2515826"/>
            <a:ext cx="6969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000">
                <a:solidFill>
                  <a:srgbClr val="1B786F"/>
                </a:solidFill>
                <a:latin typeface="Montserrat"/>
                <a:ea typeface="Montserrat"/>
                <a:cs typeface="Montserrat"/>
                <a:sym typeface="Montserrat"/>
              </a:rPr>
              <a:t>Design</a:t>
            </a:r>
            <a:endParaRPr b="1" sz="1000">
              <a:solidFill>
                <a:srgbClr val="1B78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5"/>
          <p:cNvSpPr/>
          <p:nvPr/>
        </p:nvSpPr>
        <p:spPr>
          <a:xfrm rot="10800000">
            <a:off x="2601200" y="2449565"/>
            <a:ext cx="90000" cy="67500"/>
          </a:xfrm>
          <a:prstGeom prst="triangle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834125" y="1587900"/>
            <a:ext cx="162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DBML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DB </a:t>
            </a: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cases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API design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Figma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5"/>
          <p:cNvSpPr/>
          <p:nvPr/>
        </p:nvSpPr>
        <p:spPr>
          <a:xfrm rot="-1789476">
            <a:off x="2563165" y="2807499"/>
            <a:ext cx="160451" cy="16045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B78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3" name="Google Shape;103;p15"/>
          <p:cNvGrpSpPr/>
          <p:nvPr/>
        </p:nvGrpSpPr>
        <p:grpSpPr>
          <a:xfrm>
            <a:off x="6957155" y="1740578"/>
            <a:ext cx="1624153" cy="1246754"/>
            <a:chOff x="1637475" y="1219942"/>
            <a:chExt cx="1712700" cy="1246754"/>
          </a:xfrm>
        </p:grpSpPr>
        <p:sp>
          <p:nvSpPr>
            <p:cNvPr id="104" name="Google Shape;104;p15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1905734" y="1985289"/>
              <a:ext cx="11745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solidFill>
                    <a:srgbClr val="1B78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Deploy</a:t>
              </a:r>
              <a:endParaRPr b="1" sz="1000">
                <a:solidFill>
                  <a:srgbClr val="1B786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1681725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</a:t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CD</a:t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1B78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473200" y="3071394"/>
            <a:ext cx="1888423" cy="1566836"/>
            <a:chOff x="5796631" y="2541798"/>
            <a:chExt cx="1712700" cy="1338718"/>
          </a:xfrm>
        </p:grpSpPr>
        <p:sp>
          <p:nvSpPr>
            <p:cNvPr id="110" name="Google Shape;110;p15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6296613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Plan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5796631" y="3069016"/>
              <a:ext cx="1712700" cy="811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5840867" y="3102850"/>
              <a:ext cx="16242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Feature Request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</a:t>
              </a: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 case</a:t>
              </a: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analysis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Wireframe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Jira Board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 rot="-711236">
            <a:off x="3131283" y="2610126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587025" y="1442475"/>
            <a:ext cx="1904100" cy="626100"/>
          </a:xfrm>
          <a:prstGeom prst="roundRect">
            <a:avLst>
              <a:gd fmla="val 4485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3629633" y="2130350"/>
            <a:ext cx="1625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000">
                <a:solidFill>
                  <a:srgbClr val="1B786F"/>
                </a:solidFill>
                <a:latin typeface="Montserrat"/>
                <a:ea typeface="Montserrat"/>
                <a:cs typeface="Montserrat"/>
                <a:sym typeface="Montserrat"/>
              </a:rPr>
              <a:t>Use case analysis</a:t>
            </a:r>
            <a:endParaRPr b="1" sz="1000">
              <a:solidFill>
                <a:srgbClr val="1B78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6"/>
          <p:cNvSpPr/>
          <p:nvPr/>
        </p:nvSpPr>
        <p:spPr>
          <a:xfrm rot="10800000">
            <a:off x="4398350" y="2064090"/>
            <a:ext cx="90000" cy="67500"/>
          </a:xfrm>
          <a:prstGeom prst="triangle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3631275" y="1515225"/>
            <a:ext cx="17880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Group Discussion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Wireframing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6"/>
          <p:cNvSpPr/>
          <p:nvPr/>
        </p:nvSpPr>
        <p:spPr>
          <a:xfrm rot="-1789476">
            <a:off x="4360315" y="2422024"/>
            <a:ext cx="160451" cy="16045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B78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6" name="Google Shape;126;p16"/>
          <p:cNvGrpSpPr/>
          <p:nvPr/>
        </p:nvGrpSpPr>
        <p:grpSpPr>
          <a:xfrm>
            <a:off x="2254784" y="2686006"/>
            <a:ext cx="1884156" cy="1153319"/>
            <a:chOff x="5780843" y="2541798"/>
            <a:chExt cx="1779185" cy="1153319"/>
          </a:xfrm>
        </p:grpSpPr>
        <p:sp>
          <p:nvSpPr>
            <p:cNvPr id="127" name="Google Shape;127;p16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5780843" y="2735579"/>
              <a:ext cx="17286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Feature Request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5796627" y="3069017"/>
              <a:ext cx="1763400" cy="6261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5840875" y="3106213"/>
              <a:ext cx="1624200" cy="5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Team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Business Team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1970"/>
          <a:stretch/>
        </p:blipFill>
        <p:spPr>
          <a:xfrm>
            <a:off x="152400" y="98550"/>
            <a:ext cx="8316326" cy="489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 flipH="1" rot="711236">
            <a:off x="4405408" y="2610126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3" name="Google Shape;143;p18"/>
          <p:cNvGrpSpPr/>
          <p:nvPr/>
        </p:nvGrpSpPr>
        <p:grpSpPr>
          <a:xfrm>
            <a:off x="4873850" y="2666169"/>
            <a:ext cx="1956300" cy="1491406"/>
            <a:chOff x="3021988" y="2541798"/>
            <a:chExt cx="1956300" cy="1491406"/>
          </a:xfrm>
        </p:grpSpPr>
        <p:sp>
          <p:nvSpPr>
            <p:cNvPr id="144" name="Google Shape;144;p18"/>
            <p:cNvSpPr txBox="1"/>
            <p:nvPr/>
          </p:nvSpPr>
          <p:spPr>
            <a:xfrm>
              <a:off x="3066251" y="2735579"/>
              <a:ext cx="16242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B78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Jira Board</a:t>
              </a:r>
              <a:endParaRPr b="1" sz="1000">
                <a:solidFill>
                  <a:srgbClr val="1B786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1B786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1000">
                <a:solidFill>
                  <a:srgbClr val="1B786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1B78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3021988" y="3069004"/>
              <a:ext cx="1956300" cy="964200"/>
            </a:xfrm>
            <a:prstGeom prst="roundRect">
              <a:avLst>
                <a:gd fmla="val 4485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3066238" y="3106204"/>
              <a:ext cx="17286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Sprint Plan</a:t>
              </a:r>
              <a:endParaRPr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Github Integration</a:t>
              </a:r>
              <a:endParaRPr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Issue Tracking</a:t>
              </a:r>
              <a:endParaRPr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9" name="Google Shape;149;p18"/>
          <p:cNvSpPr/>
          <p:nvPr/>
        </p:nvSpPr>
        <p:spPr>
          <a:xfrm rot="-711236">
            <a:off x="3131283" y="2610126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587025" y="1442475"/>
            <a:ext cx="1904100" cy="626100"/>
          </a:xfrm>
          <a:prstGeom prst="roundRect">
            <a:avLst>
              <a:gd fmla="val 4485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3629633" y="2130350"/>
            <a:ext cx="1625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000">
                <a:solidFill>
                  <a:srgbClr val="1B786F"/>
                </a:solidFill>
                <a:latin typeface="Montserrat"/>
                <a:ea typeface="Montserrat"/>
                <a:cs typeface="Montserrat"/>
                <a:sym typeface="Montserrat"/>
              </a:rPr>
              <a:t>Use case analysis</a:t>
            </a:r>
            <a:endParaRPr b="1" sz="1000">
              <a:solidFill>
                <a:srgbClr val="1B78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8"/>
          <p:cNvSpPr/>
          <p:nvPr/>
        </p:nvSpPr>
        <p:spPr>
          <a:xfrm rot="10800000">
            <a:off x="4398350" y="2064090"/>
            <a:ext cx="90000" cy="67500"/>
          </a:xfrm>
          <a:prstGeom prst="triangle">
            <a:avLst>
              <a:gd fmla="val 50000" name="adj"/>
            </a:avLst>
          </a:prstGeom>
          <a:solidFill>
            <a:srgbClr val="1B78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3631275" y="1515225"/>
            <a:ext cx="17880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Group Discussion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Wireframing</a:t>
            </a:r>
            <a:endParaRPr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8"/>
          <p:cNvSpPr/>
          <p:nvPr/>
        </p:nvSpPr>
        <p:spPr>
          <a:xfrm rot="-1789476">
            <a:off x="4360315" y="2422024"/>
            <a:ext cx="160451" cy="16045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1B78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5" name="Google Shape;155;p18"/>
          <p:cNvGrpSpPr/>
          <p:nvPr/>
        </p:nvGrpSpPr>
        <p:grpSpPr>
          <a:xfrm>
            <a:off x="2254193" y="2685980"/>
            <a:ext cx="1904053" cy="1153320"/>
            <a:chOff x="5780843" y="2541798"/>
            <a:chExt cx="1728600" cy="1153320"/>
          </a:xfrm>
        </p:grpSpPr>
        <p:sp>
          <p:nvSpPr>
            <p:cNvPr id="156" name="Google Shape;156;p18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5780843" y="2735579"/>
              <a:ext cx="17286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Feature Request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5796623" y="3069018"/>
              <a:ext cx="1712700" cy="6261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9" name="Google Shape;159;p18"/>
            <p:cNvSpPr txBox="1"/>
            <p:nvPr/>
          </p:nvSpPr>
          <p:spPr>
            <a:xfrm>
              <a:off x="5840875" y="3106213"/>
              <a:ext cx="1624200" cy="5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Team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ontserrat"/>
                <a:buChar char="●"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Business Team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JIRA</a:t>
            </a:r>
            <a:endParaRPr/>
          </a:p>
        </p:txBody>
      </p:sp>
      <p:pic>
        <p:nvPicPr>
          <p:cNvPr id="166" name="Google Shape;1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575" y="490900"/>
            <a:ext cx="6084599" cy="44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JIRA</a:t>
            </a:r>
            <a:endParaRPr/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650" y="526850"/>
            <a:ext cx="7868351" cy="4270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pic>
        <p:nvPicPr>
          <p:cNvPr id="178" name="Google Shape;17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636" y="1951500"/>
            <a:ext cx="895425" cy="8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1628400" y="3128875"/>
            <a:ext cx="125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Modeling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3798125" y="3128875"/>
            <a:ext cx="125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API Docs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1" name="Google Shape;181;p21"/>
          <p:cNvPicPr preferRelativeResize="0"/>
          <p:nvPr/>
        </p:nvPicPr>
        <p:blipFill rotWithShape="1">
          <a:blip r:embed="rId4">
            <a:alphaModFix/>
          </a:blip>
          <a:srcRect b="16424" l="29597" r="29601" t="16424"/>
          <a:stretch/>
        </p:blipFill>
        <p:spPr>
          <a:xfrm>
            <a:off x="6149075" y="1951500"/>
            <a:ext cx="895425" cy="8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5967850" y="3128875"/>
            <a:ext cx="125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UI/UX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Design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4580" y="1886725"/>
            <a:ext cx="1024975" cy="10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311700" y="315925"/>
            <a:ext cx="21093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1413938" y="3128875"/>
            <a:ext cx="125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4416663" y="3128875"/>
            <a:ext cx="125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7003700" y="3128875"/>
            <a:ext cx="125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Database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5300" y="1989558"/>
            <a:ext cx="1940613" cy="1164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6025" y="1953150"/>
            <a:ext cx="1793250" cy="112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2"/>
          <p:cNvGrpSpPr/>
          <p:nvPr/>
        </p:nvGrpSpPr>
        <p:grpSpPr>
          <a:xfrm>
            <a:off x="614725" y="2219541"/>
            <a:ext cx="2856326" cy="704421"/>
            <a:chOff x="488225" y="2219541"/>
            <a:chExt cx="2856326" cy="704421"/>
          </a:xfrm>
        </p:grpSpPr>
        <p:pic>
          <p:nvPicPr>
            <p:cNvPr id="195" name="Google Shape;195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225" y="2219541"/>
              <a:ext cx="1257900" cy="704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816976" y="2353697"/>
              <a:ext cx="1527575" cy="570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311700" y="315925"/>
            <a:ext cx="18525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</a:t>
            </a:r>
            <a:endParaRPr/>
          </a:p>
        </p:txBody>
      </p:sp>
      <p:grpSp>
        <p:nvGrpSpPr>
          <p:cNvPr id="202" name="Google Shape;202;p23"/>
          <p:cNvGrpSpPr/>
          <p:nvPr/>
        </p:nvGrpSpPr>
        <p:grpSpPr>
          <a:xfrm>
            <a:off x="6038025" y="2923485"/>
            <a:ext cx="2475711" cy="400200"/>
            <a:chOff x="6038025" y="3111200"/>
            <a:chExt cx="2475711" cy="400200"/>
          </a:xfrm>
        </p:grpSpPr>
        <p:cxnSp>
          <p:nvCxnSpPr>
            <p:cNvPr id="203" name="Google Shape;203;p23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4" name="Google Shape;204;p23"/>
            <p:cNvSpPr txBox="1"/>
            <p:nvPr/>
          </p:nvSpPr>
          <p:spPr>
            <a:xfrm>
              <a:off x="6646536" y="3111200"/>
              <a:ext cx="186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Unit Test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7" name="Google Shape;207;p23"/>
          <p:cNvGrpSpPr/>
          <p:nvPr/>
        </p:nvGrpSpPr>
        <p:grpSpPr>
          <a:xfrm>
            <a:off x="636321" y="2124728"/>
            <a:ext cx="2994729" cy="400200"/>
            <a:chOff x="636321" y="2330098"/>
            <a:chExt cx="2994729" cy="400200"/>
          </a:xfrm>
        </p:grpSpPr>
        <p:sp>
          <p:nvSpPr>
            <p:cNvPr id="208" name="Google Shape;208;p23"/>
            <p:cNvSpPr txBox="1"/>
            <p:nvPr/>
          </p:nvSpPr>
          <p:spPr>
            <a:xfrm>
              <a:off x="636321" y="2330098"/>
              <a:ext cx="186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Integration Test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9" name="Google Shape;209;p23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0" name="Google Shape;210;p23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3"/>
            <p:cNvSpPr txBox="1"/>
            <p:nvPr/>
          </p:nvSpPr>
          <p:spPr>
            <a:xfrm>
              <a:off x="2498491" y="237375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2" name="Google Shape;212;p23"/>
          <p:cNvGrpSpPr/>
          <p:nvPr/>
        </p:nvGrpSpPr>
        <p:grpSpPr>
          <a:xfrm>
            <a:off x="4908100" y="1239945"/>
            <a:ext cx="3599586" cy="400200"/>
            <a:chOff x="4908100" y="1392350"/>
            <a:chExt cx="3599586" cy="400200"/>
          </a:xfrm>
        </p:grpSpPr>
        <p:cxnSp>
          <p:nvCxnSpPr>
            <p:cNvPr id="213" name="Google Shape;213;p23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4" name="Google Shape;214;p23"/>
            <p:cNvSpPr txBox="1"/>
            <p:nvPr/>
          </p:nvSpPr>
          <p:spPr>
            <a:xfrm>
              <a:off x="6640486" y="1392350"/>
              <a:ext cx="186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Performance Test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3"/>
            <p:cNvSpPr txBox="1"/>
            <p:nvPr/>
          </p:nvSpPr>
          <p:spPr>
            <a:xfrm>
              <a:off x="6402820" y="1436790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7" name="Google Shape;217;p23"/>
          <p:cNvGrpSpPr/>
          <p:nvPr/>
        </p:nvGrpSpPr>
        <p:grpSpPr>
          <a:xfrm>
            <a:off x="2814594" y="945750"/>
            <a:ext cx="3514811" cy="3252003"/>
            <a:chOff x="2991269" y="1153325"/>
            <a:chExt cx="3514811" cy="3252003"/>
          </a:xfrm>
        </p:grpSpPr>
        <p:sp>
          <p:nvSpPr>
            <p:cNvPr id="218" name="Google Shape;218;p23"/>
            <p:cNvSpPr/>
            <p:nvPr/>
          </p:nvSpPr>
          <p:spPr>
            <a:xfrm>
              <a:off x="3477586" y="2585458"/>
              <a:ext cx="2541910" cy="950456"/>
            </a:xfrm>
            <a:custGeom>
              <a:rect b="b" l="l" r="r" t="t"/>
              <a:pathLst>
                <a:path extrusionOk="0" h="43529" w="126826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19" name="Google Shape;219;p23"/>
            <p:cNvSpPr/>
            <p:nvPr/>
          </p:nvSpPr>
          <p:spPr>
            <a:xfrm>
              <a:off x="2991269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561561"/>
            </a:solidFill>
            <a:ln>
              <a:noFill/>
            </a:ln>
          </p:spPr>
        </p:sp>
        <p:sp>
          <p:nvSpPr>
            <p:cNvPr id="220" name="Google Shape;220;p23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9325A5"/>
            </a:solidFill>
            <a:ln>
              <a:noFill/>
            </a:ln>
          </p:spPr>
        </p:sp>
        <p:sp>
          <p:nvSpPr>
            <p:cNvPr id="221" name="Google Shape;221;p23"/>
            <p:cNvSpPr/>
            <p:nvPr/>
          </p:nvSpPr>
          <p:spPr>
            <a:xfrm>
              <a:off x="3969199" y="2001324"/>
              <a:ext cx="1565850" cy="585863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22" name="Google Shape;222;p23"/>
            <p:cNvSpPr/>
            <p:nvPr/>
          </p:nvSpPr>
          <p:spPr>
            <a:xfrm>
              <a:off x="356325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61561"/>
            </a:solidFill>
            <a:ln>
              <a:noFill/>
            </a:ln>
          </p:spPr>
        </p:sp>
        <p:sp>
          <p:nvSpPr>
            <p:cNvPr id="223" name="Google Shape;223;p23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71E86"/>
            </a:solidFill>
            <a:ln>
              <a:noFill/>
            </a:ln>
          </p:spPr>
        </p:sp>
        <p:sp>
          <p:nvSpPr>
            <p:cNvPr id="224" name="Google Shape;224;p23"/>
            <p:cNvSpPr/>
            <p:nvPr/>
          </p:nvSpPr>
          <p:spPr>
            <a:xfrm>
              <a:off x="4059061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61561"/>
            </a:solidFill>
            <a:ln>
              <a:noFill/>
            </a:ln>
          </p:spPr>
        </p:sp>
        <p:sp>
          <p:nvSpPr>
            <p:cNvPr id="225" name="Google Shape;225;p23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</p:spPr>
        </p:sp>
      </p:grpSp>
      <p:sp>
        <p:nvSpPr>
          <p:cNvPr id="226" name="Google Shape;226;p23"/>
          <p:cNvSpPr/>
          <p:nvPr/>
        </p:nvSpPr>
        <p:spPr>
          <a:xfrm>
            <a:off x="578900" y="2093550"/>
            <a:ext cx="2475600" cy="47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7" name="Google Shape;2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550" y="1799425"/>
            <a:ext cx="1526257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6294938" y="1200950"/>
            <a:ext cx="2475600" cy="47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6294938" y="2884475"/>
            <a:ext cx="2475600" cy="47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0" name="Google Shape;230;p23"/>
          <p:cNvPicPr preferRelativeResize="0"/>
          <p:nvPr/>
        </p:nvPicPr>
        <p:blipFill rotWithShape="1">
          <a:blip r:embed="rId4">
            <a:alphaModFix/>
          </a:blip>
          <a:srcRect b="23141" l="14443" r="14443" t="23141"/>
          <a:stretch/>
        </p:blipFill>
        <p:spPr>
          <a:xfrm>
            <a:off x="7547013" y="2661175"/>
            <a:ext cx="105956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075" y="985108"/>
            <a:ext cx="1029700" cy="349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&amp; Deploy</a:t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1527269" y="2296535"/>
            <a:ext cx="729300" cy="453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3227956" y="2296535"/>
            <a:ext cx="729300" cy="45300"/>
          </a:xfrm>
          <a:prstGeom prst="roundRect">
            <a:avLst>
              <a:gd fmla="val 5000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4947302" y="2296535"/>
            <a:ext cx="729300" cy="45300"/>
          </a:xfrm>
          <a:prstGeom prst="roundRect">
            <a:avLst>
              <a:gd fmla="val 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" name="Google Shape;240;p24"/>
          <p:cNvGrpSpPr/>
          <p:nvPr/>
        </p:nvGrpSpPr>
        <p:grpSpPr>
          <a:xfrm>
            <a:off x="0" y="1939533"/>
            <a:ext cx="2097237" cy="1411380"/>
            <a:chOff x="-322900" y="1669958"/>
            <a:chExt cx="2097237" cy="1411380"/>
          </a:xfrm>
        </p:grpSpPr>
        <p:grpSp>
          <p:nvGrpSpPr>
            <p:cNvPr id="241" name="Google Shape;241;p24"/>
            <p:cNvGrpSpPr/>
            <p:nvPr/>
          </p:nvGrpSpPr>
          <p:grpSpPr>
            <a:xfrm>
              <a:off x="-322900" y="1669958"/>
              <a:ext cx="2097237" cy="1411380"/>
              <a:chOff x="594488" y="1957150"/>
              <a:chExt cx="1709100" cy="1150175"/>
            </a:xfrm>
          </p:grpSpPr>
          <p:sp>
            <p:nvSpPr>
              <p:cNvPr id="242" name="Google Shape;242;p24"/>
              <p:cNvSpPr/>
              <p:nvPr/>
            </p:nvSpPr>
            <p:spPr>
              <a:xfrm>
                <a:off x="1151886" y="1957150"/>
                <a:ext cx="594300" cy="594300"/>
              </a:xfrm>
              <a:prstGeom prst="ellipse">
                <a:avLst/>
              </a:prstGeom>
              <a:noFill/>
              <a:ln cap="flat" cmpd="sng" w="38100">
                <a:solidFill>
                  <a:srgbClr val="85858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4"/>
              <p:cNvSpPr txBox="1"/>
              <p:nvPr/>
            </p:nvSpPr>
            <p:spPr>
              <a:xfrm>
                <a:off x="594488" y="2660925"/>
                <a:ext cx="17091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Issue Create</a:t>
                </a:r>
                <a:endParaRPr b="1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2410" y="1867362"/>
              <a:ext cx="486599" cy="3645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" name="Google Shape;245;p24"/>
          <p:cNvGrpSpPr/>
          <p:nvPr/>
        </p:nvGrpSpPr>
        <p:grpSpPr>
          <a:xfrm>
            <a:off x="1713044" y="1939533"/>
            <a:ext cx="2097237" cy="1411380"/>
            <a:chOff x="2260069" y="1669958"/>
            <a:chExt cx="2097237" cy="1411380"/>
          </a:xfrm>
        </p:grpSpPr>
        <p:grpSp>
          <p:nvGrpSpPr>
            <p:cNvPr id="246" name="Google Shape;246;p24"/>
            <p:cNvGrpSpPr/>
            <p:nvPr/>
          </p:nvGrpSpPr>
          <p:grpSpPr>
            <a:xfrm>
              <a:off x="2260069" y="1669958"/>
              <a:ext cx="2097237" cy="1411380"/>
              <a:chOff x="2699425" y="1957150"/>
              <a:chExt cx="1709100" cy="1150175"/>
            </a:xfrm>
          </p:grpSpPr>
          <p:sp>
            <p:nvSpPr>
              <p:cNvPr id="247" name="Google Shape;247;p24"/>
              <p:cNvSpPr/>
              <p:nvPr/>
            </p:nvSpPr>
            <p:spPr>
              <a:xfrm>
                <a:off x="3256823" y="1957150"/>
                <a:ext cx="594300" cy="594300"/>
              </a:xfrm>
              <a:prstGeom prst="ellipse">
                <a:avLst/>
              </a:prstGeom>
              <a:noFill/>
              <a:ln cap="flat" cmpd="sng" w="38100">
                <a:solidFill>
                  <a:srgbClr val="85858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4"/>
              <p:cNvSpPr txBox="1"/>
              <p:nvPr/>
            </p:nvSpPr>
            <p:spPr>
              <a:xfrm>
                <a:off x="2699425" y="2660925"/>
                <a:ext cx="17091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Track Branch</a:t>
                </a:r>
                <a:endParaRPr b="1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249" name="Google Shape;249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65388" y="1820611"/>
              <a:ext cx="486600" cy="4579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" name="Google Shape;250;p24"/>
          <p:cNvGrpSpPr/>
          <p:nvPr/>
        </p:nvGrpSpPr>
        <p:grpSpPr>
          <a:xfrm>
            <a:off x="3406814" y="1939533"/>
            <a:ext cx="2097237" cy="1411380"/>
            <a:chOff x="4814876" y="1669958"/>
            <a:chExt cx="2097237" cy="1411380"/>
          </a:xfrm>
        </p:grpSpPr>
        <p:grpSp>
          <p:nvGrpSpPr>
            <p:cNvPr id="251" name="Google Shape;251;p24"/>
            <p:cNvGrpSpPr/>
            <p:nvPr/>
          </p:nvGrpSpPr>
          <p:grpSpPr>
            <a:xfrm>
              <a:off x="4814876" y="1669958"/>
              <a:ext cx="2097237" cy="1411380"/>
              <a:chOff x="4781413" y="1957150"/>
              <a:chExt cx="1709100" cy="1150175"/>
            </a:xfrm>
          </p:grpSpPr>
          <p:sp>
            <p:nvSpPr>
              <p:cNvPr id="252" name="Google Shape;252;p24"/>
              <p:cNvSpPr/>
              <p:nvPr/>
            </p:nvSpPr>
            <p:spPr>
              <a:xfrm>
                <a:off x="5338808" y="1957150"/>
                <a:ext cx="594300" cy="594300"/>
              </a:xfrm>
              <a:prstGeom prst="ellipse">
                <a:avLst/>
              </a:prstGeom>
              <a:noFill/>
              <a:ln cap="flat" cmpd="sng" w="38100">
                <a:solidFill>
                  <a:srgbClr val="85858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4"/>
              <p:cNvSpPr txBox="1"/>
              <p:nvPr/>
            </p:nvSpPr>
            <p:spPr>
              <a:xfrm>
                <a:off x="4781413" y="2660925"/>
                <a:ext cx="17091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Code</a:t>
                </a:r>
                <a:endParaRPr b="1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254" name="Google Shape;254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20188" y="1806309"/>
              <a:ext cx="486600" cy="486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5" name="Google Shape;255;p24"/>
          <p:cNvGrpSpPr/>
          <p:nvPr/>
        </p:nvGrpSpPr>
        <p:grpSpPr>
          <a:xfrm>
            <a:off x="5182367" y="1939533"/>
            <a:ext cx="2097237" cy="1411380"/>
            <a:chOff x="7369667" y="1669958"/>
            <a:chExt cx="2097237" cy="1411380"/>
          </a:xfrm>
        </p:grpSpPr>
        <p:grpSp>
          <p:nvGrpSpPr>
            <p:cNvPr id="256" name="Google Shape;256;p24"/>
            <p:cNvGrpSpPr/>
            <p:nvPr/>
          </p:nvGrpSpPr>
          <p:grpSpPr>
            <a:xfrm>
              <a:off x="7369667" y="1669958"/>
              <a:ext cx="2097237" cy="1411380"/>
              <a:chOff x="6863388" y="1957150"/>
              <a:chExt cx="1709100" cy="1150175"/>
            </a:xfrm>
          </p:grpSpPr>
          <p:sp>
            <p:nvSpPr>
              <p:cNvPr id="257" name="Google Shape;257;p24"/>
              <p:cNvSpPr/>
              <p:nvPr/>
            </p:nvSpPr>
            <p:spPr>
              <a:xfrm>
                <a:off x="7420786" y="1957150"/>
                <a:ext cx="594300" cy="594300"/>
              </a:xfrm>
              <a:prstGeom prst="ellipse">
                <a:avLst/>
              </a:prstGeom>
              <a:noFill/>
              <a:ln cap="flat" cmpd="sng" w="38100">
                <a:solidFill>
                  <a:srgbClr val="85858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4"/>
              <p:cNvSpPr txBox="1"/>
              <p:nvPr/>
            </p:nvSpPr>
            <p:spPr>
              <a:xfrm>
                <a:off x="6863388" y="2660925"/>
                <a:ext cx="17091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Code Review and Merge</a:t>
                </a:r>
                <a:endParaRPr b="1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259" name="Google Shape;259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189288" y="1820613"/>
              <a:ext cx="458000" cy="458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24"/>
          <p:cNvGrpSpPr/>
          <p:nvPr/>
        </p:nvGrpSpPr>
        <p:grpSpPr>
          <a:xfrm>
            <a:off x="6762452" y="1939533"/>
            <a:ext cx="2278377" cy="1411380"/>
            <a:chOff x="6762452" y="1939533"/>
            <a:chExt cx="2278377" cy="1411380"/>
          </a:xfrm>
        </p:grpSpPr>
        <p:grpSp>
          <p:nvGrpSpPr>
            <p:cNvPr id="261" name="Google Shape;261;p24"/>
            <p:cNvGrpSpPr/>
            <p:nvPr/>
          </p:nvGrpSpPr>
          <p:grpSpPr>
            <a:xfrm>
              <a:off x="6943592" y="1939533"/>
              <a:ext cx="2097237" cy="1411380"/>
              <a:chOff x="6863388" y="1957150"/>
              <a:chExt cx="1709100" cy="1150175"/>
            </a:xfrm>
          </p:grpSpPr>
          <p:sp>
            <p:nvSpPr>
              <p:cNvPr id="262" name="Google Shape;262;p24"/>
              <p:cNvSpPr/>
              <p:nvPr/>
            </p:nvSpPr>
            <p:spPr>
              <a:xfrm>
                <a:off x="7420786" y="1957150"/>
                <a:ext cx="594300" cy="594300"/>
              </a:xfrm>
              <a:prstGeom prst="ellipse">
                <a:avLst/>
              </a:prstGeom>
              <a:noFill/>
              <a:ln cap="flat" cmpd="sng" w="38100">
                <a:solidFill>
                  <a:srgbClr val="85858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4"/>
              <p:cNvSpPr txBox="1"/>
              <p:nvPr/>
            </p:nvSpPr>
            <p:spPr>
              <a:xfrm>
                <a:off x="6863388" y="2660925"/>
                <a:ext cx="17091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Deploy in Cloud</a:t>
                </a:r>
                <a:endParaRPr b="1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64" name="Google Shape;264;p24"/>
            <p:cNvSpPr/>
            <p:nvPr/>
          </p:nvSpPr>
          <p:spPr>
            <a:xfrm>
              <a:off x="6762452" y="2296535"/>
              <a:ext cx="729300" cy="45300"/>
            </a:xfrm>
            <a:prstGeom prst="roundRect">
              <a:avLst>
                <a:gd fmla="val 0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5" name="Google Shape;265;p2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750800" y="2091963"/>
              <a:ext cx="482825" cy="454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 txBox="1"/>
          <p:nvPr>
            <p:ph type="title"/>
          </p:nvPr>
        </p:nvSpPr>
        <p:spPr>
          <a:xfrm>
            <a:off x="311700" y="315925"/>
            <a:ext cx="37590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Costing</a:t>
            </a:r>
            <a:endParaRPr/>
          </a:p>
        </p:txBody>
      </p:sp>
      <p:pic>
        <p:nvPicPr>
          <p:cNvPr id="271" name="Google Shape;2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0588" y="981913"/>
            <a:ext cx="482825" cy="4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/>
          <p:cNvPicPr preferRelativeResize="0"/>
          <p:nvPr/>
        </p:nvPicPr>
        <p:blipFill rotWithShape="1">
          <a:blip r:embed="rId4">
            <a:alphaModFix/>
          </a:blip>
          <a:srcRect b="34417" l="0" r="0" t="0"/>
          <a:stretch/>
        </p:blipFill>
        <p:spPr>
          <a:xfrm>
            <a:off x="708425" y="1492800"/>
            <a:ext cx="7820025" cy="353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Costing</a:t>
            </a:r>
            <a:endParaRPr/>
          </a:p>
        </p:txBody>
      </p:sp>
      <p:pic>
        <p:nvPicPr>
          <p:cNvPr id="278" name="Google Shape;278;p26"/>
          <p:cNvPicPr preferRelativeResize="0"/>
          <p:nvPr/>
        </p:nvPicPr>
        <p:blipFill rotWithShape="1">
          <a:blip r:embed="rId3">
            <a:alphaModFix/>
          </a:blip>
          <a:srcRect b="-10" l="11016" r="11016" t="0"/>
          <a:stretch/>
        </p:blipFill>
        <p:spPr>
          <a:xfrm>
            <a:off x="6230700" y="1456085"/>
            <a:ext cx="486600" cy="467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1125" y="1460861"/>
            <a:ext cx="486600" cy="457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8475" y="2232475"/>
            <a:ext cx="2531922" cy="1591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26"/>
          <p:cNvCxnSpPr/>
          <p:nvPr/>
        </p:nvCxnSpPr>
        <p:spPr>
          <a:xfrm>
            <a:off x="4886950" y="1326925"/>
            <a:ext cx="0" cy="371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6"/>
          <p:cNvCxnSpPr/>
          <p:nvPr/>
        </p:nvCxnSpPr>
        <p:spPr>
          <a:xfrm>
            <a:off x="7910100" y="1326925"/>
            <a:ext cx="0" cy="371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283" name="Google Shape;283;p26"/>
          <p:cNvSpPr txBox="1"/>
          <p:nvPr/>
        </p:nvSpPr>
        <p:spPr>
          <a:xfrm>
            <a:off x="1848475" y="3942725"/>
            <a:ext cx="121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Features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1702925" y="4262325"/>
            <a:ext cx="282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Deployment Branches and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secrets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Branch Protection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3,000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CI/CD minutes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5" name="Google Shape;285;p26"/>
          <p:cNvPicPr preferRelativeResize="0"/>
          <p:nvPr/>
        </p:nvPicPr>
        <p:blipFill rotWithShape="1">
          <a:blip r:embed="rId6">
            <a:alphaModFix/>
          </a:blip>
          <a:srcRect b="27907" l="0" r="0" t="0"/>
          <a:stretch/>
        </p:blipFill>
        <p:spPr>
          <a:xfrm>
            <a:off x="5676550" y="2232493"/>
            <a:ext cx="1594900" cy="1129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26"/>
          <p:cNvCxnSpPr/>
          <p:nvPr/>
        </p:nvCxnSpPr>
        <p:spPr>
          <a:xfrm>
            <a:off x="1226525" y="1326925"/>
            <a:ext cx="0" cy="371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pic>
        <p:nvPicPr>
          <p:cNvPr id="287" name="Google Shape;287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84695" y="3604922"/>
            <a:ext cx="1778600" cy="1303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>
            <p:ph type="title"/>
          </p:nvPr>
        </p:nvSpPr>
        <p:spPr>
          <a:xfrm>
            <a:off x="311700" y="315925"/>
            <a:ext cx="2172900" cy="147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Flow</a:t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3779900" y="288763"/>
            <a:ext cx="1537200" cy="32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R&amp;D + Wireframe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5053500" y="1033225"/>
            <a:ext cx="1727400" cy="32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Data Modeling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2630525" y="1033213"/>
            <a:ext cx="1537200" cy="32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UI/UX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96" name="Google Shape;296;p27"/>
          <p:cNvCxnSpPr>
            <a:stCxn id="293" idx="2"/>
            <a:endCxn id="295" idx="0"/>
          </p:cNvCxnSpPr>
          <p:nvPr/>
        </p:nvCxnSpPr>
        <p:spPr>
          <a:xfrm rot="5400000">
            <a:off x="3763700" y="248563"/>
            <a:ext cx="420300" cy="1149300"/>
          </a:xfrm>
          <a:prstGeom prst="curvedConnector3">
            <a:avLst>
              <a:gd fmla="val 49982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27"/>
          <p:cNvCxnSpPr>
            <a:stCxn id="293" idx="2"/>
            <a:endCxn id="294" idx="0"/>
          </p:cNvCxnSpPr>
          <p:nvPr/>
        </p:nvCxnSpPr>
        <p:spPr>
          <a:xfrm flipH="1" rot="-5400000">
            <a:off x="5022650" y="138913"/>
            <a:ext cx="420300" cy="1368600"/>
          </a:xfrm>
          <a:prstGeom prst="curvedConnector3">
            <a:avLst>
              <a:gd fmla="val 49984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" name="Google Shape;298;p27"/>
          <p:cNvSpPr/>
          <p:nvPr/>
        </p:nvSpPr>
        <p:spPr>
          <a:xfrm>
            <a:off x="2630525" y="1835698"/>
            <a:ext cx="1537200" cy="94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Frontend Dev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5232900" y="1835675"/>
            <a:ext cx="1368000" cy="32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API Docs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0" name="Google Shape;300;p27"/>
          <p:cNvCxnSpPr>
            <a:stCxn id="294" idx="2"/>
            <a:endCxn id="299" idx="0"/>
          </p:cNvCxnSpPr>
          <p:nvPr/>
        </p:nvCxnSpPr>
        <p:spPr>
          <a:xfrm flipH="1" rot="-5400000">
            <a:off x="5678400" y="1596325"/>
            <a:ext cx="478200" cy="6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27"/>
          <p:cNvCxnSpPr>
            <a:stCxn id="295" idx="2"/>
            <a:endCxn id="298" idx="0"/>
          </p:cNvCxnSpPr>
          <p:nvPr/>
        </p:nvCxnSpPr>
        <p:spPr>
          <a:xfrm flipH="1" rot="-5400000">
            <a:off x="3160325" y="1596313"/>
            <a:ext cx="478200" cy="6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27"/>
          <p:cNvCxnSpPr>
            <a:stCxn id="295" idx="2"/>
            <a:endCxn id="299" idx="0"/>
          </p:cNvCxnSpPr>
          <p:nvPr/>
        </p:nvCxnSpPr>
        <p:spPr>
          <a:xfrm flipH="1" rot="-5400000">
            <a:off x="4418975" y="337663"/>
            <a:ext cx="478200" cy="25179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27"/>
          <p:cNvCxnSpPr>
            <a:stCxn id="299" idx="1"/>
            <a:endCxn id="298" idx="3"/>
          </p:cNvCxnSpPr>
          <p:nvPr/>
        </p:nvCxnSpPr>
        <p:spPr>
          <a:xfrm flipH="1">
            <a:off x="4167600" y="1997825"/>
            <a:ext cx="1065300" cy="3090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4" name="Google Shape;304;p27"/>
          <p:cNvSpPr/>
          <p:nvPr/>
        </p:nvSpPr>
        <p:spPr>
          <a:xfrm>
            <a:off x="2630525" y="3102263"/>
            <a:ext cx="1537200" cy="32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Frontend Testing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5148000" y="2444763"/>
            <a:ext cx="1537200" cy="32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Backend Dev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6" name="Google Shape;306;p27"/>
          <p:cNvCxnSpPr>
            <a:stCxn id="299" idx="2"/>
            <a:endCxn id="305" idx="0"/>
          </p:cNvCxnSpPr>
          <p:nvPr/>
        </p:nvCxnSpPr>
        <p:spPr>
          <a:xfrm flipH="1" rot="-5400000">
            <a:off x="5774850" y="2302025"/>
            <a:ext cx="284700" cy="600"/>
          </a:xfrm>
          <a:prstGeom prst="curvedConnector3">
            <a:avLst>
              <a:gd fmla="val 50015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7" name="Google Shape;307;p27"/>
          <p:cNvSpPr/>
          <p:nvPr/>
        </p:nvSpPr>
        <p:spPr>
          <a:xfrm>
            <a:off x="5148000" y="3005513"/>
            <a:ext cx="1537200" cy="517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Backend Unit + Performance Test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3524225" y="3943350"/>
            <a:ext cx="2048700" cy="32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Integration Test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9" name="Google Shape;309;p27"/>
          <p:cNvCxnSpPr>
            <a:stCxn id="304" idx="2"/>
            <a:endCxn id="308" idx="0"/>
          </p:cNvCxnSpPr>
          <p:nvPr/>
        </p:nvCxnSpPr>
        <p:spPr>
          <a:xfrm flipH="1" rot="-5400000">
            <a:off x="3715475" y="3110213"/>
            <a:ext cx="516900" cy="1149600"/>
          </a:xfrm>
          <a:prstGeom prst="curvedConnector3">
            <a:avLst>
              <a:gd fmla="val 49989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" name="Google Shape;310;p27"/>
          <p:cNvCxnSpPr>
            <a:stCxn id="307" idx="2"/>
            <a:endCxn id="308" idx="0"/>
          </p:cNvCxnSpPr>
          <p:nvPr/>
        </p:nvCxnSpPr>
        <p:spPr>
          <a:xfrm rot="5400000">
            <a:off x="5022600" y="3049313"/>
            <a:ext cx="420000" cy="1368000"/>
          </a:xfrm>
          <a:prstGeom prst="curvedConnector3">
            <a:avLst>
              <a:gd fmla="val 50004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27"/>
          <p:cNvCxnSpPr>
            <a:stCxn id="305" idx="2"/>
            <a:endCxn id="307" idx="0"/>
          </p:cNvCxnSpPr>
          <p:nvPr/>
        </p:nvCxnSpPr>
        <p:spPr>
          <a:xfrm flipH="1" rot="-5400000">
            <a:off x="5798700" y="2886963"/>
            <a:ext cx="236400" cy="600"/>
          </a:xfrm>
          <a:prstGeom prst="curvedConnector3">
            <a:avLst>
              <a:gd fmla="val 50011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27"/>
          <p:cNvCxnSpPr>
            <a:stCxn id="298" idx="2"/>
            <a:endCxn id="304" idx="0"/>
          </p:cNvCxnSpPr>
          <p:nvPr/>
        </p:nvCxnSpPr>
        <p:spPr>
          <a:xfrm flipH="1" rot="-5400000">
            <a:off x="3237275" y="2939848"/>
            <a:ext cx="324300" cy="6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3" name="Google Shape;313;p27"/>
          <p:cNvSpPr/>
          <p:nvPr/>
        </p:nvSpPr>
        <p:spPr>
          <a:xfrm>
            <a:off x="3627200" y="4530425"/>
            <a:ext cx="1842600" cy="32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Deployment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14" name="Google Shape;314;p27"/>
          <p:cNvCxnSpPr>
            <a:stCxn id="308" idx="2"/>
            <a:endCxn id="313" idx="0"/>
          </p:cNvCxnSpPr>
          <p:nvPr/>
        </p:nvCxnSpPr>
        <p:spPr>
          <a:xfrm>
            <a:off x="4548575" y="4267650"/>
            <a:ext cx="0" cy="262800"/>
          </a:xfrm>
          <a:prstGeom prst="straightConnector1">
            <a:avLst/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27"/>
          <p:cNvCxnSpPr>
            <a:stCxn id="305" idx="1"/>
            <a:endCxn id="304" idx="3"/>
          </p:cNvCxnSpPr>
          <p:nvPr/>
        </p:nvCxnSpPr>
        <p:spPr>
          <a:xfrm flipH="1">
            <a:off x="4167600" y="2606913"/>
            <a:ext cx="980400" cy="6576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16" name="Google Shape;31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875" y="861400"/>
            <a:ext cx="283450" cy="28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7"/>
          <p:cNvPicPr preferRelativeResize="0"/>
          <p:nvPr/>
        </p:nvPicPr>
        <p:blipFill rotWithShape="1">
          <a:blip r:embed="rId4">
            <a:alphaModFix/>
          </a:blip>
          <a:srcRect b="16424" l="29597" r="29601" t="16424"/>
          <a:stretch/>
        </p:blipFill>
        <p:spPr>
          <a:xfrm>
            <a:off x="2709400" y="825525"/>
            <a:ext cx="309000" cy="30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7"/>
          <p:cNvGrpSpPr/>
          <p:nvPr/>
        </p:nvGrpSpPr>
        <p:grpSpPr>
          <a:xfrm>
            <a:off x="6421894" y="2306821"/>
            <a:ext cx="1071694" cy="264299"/>
            <a:chOff x="488225" y="2219541"/>
            <a:chExt cx="2856326" cy="704421"/>
          </a:xfrm>
        </p:grpSpPr>
        <p:pic>
          <p:nvPicPr>
            <p:cNvPr id="319" name="Google Shape;319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225" y="2219541"/>
              <a:ext cx="1257900" cy="704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2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816976" y="2353697"/>
              <a:ext cx="1527575" cy="570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1" name="Google Shape;321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09400" y="1631937"/>
            <a:ext cx="621375" cy="37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7"/>
          <p:cNvSpPr/>
          <p:nvPr/>
        </p:nvSpPr>
        <p:spPr>
          <a:xfrm>
            <a:off x="6883700" y="1835675"/>
            <a:ext cx="1632300" cy="32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Database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Design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23" name="Google Shape;323;p27"/>
          <p:cNvCxnSpPr>
            <a:stCxn id="294" idx="2"/>
            <a:endCxn id="322" idx="0"/>
          </p:cNvCxnSpPr>
          <p:nvPr/>
        </p:nvCxnSpPr>
        <p:spPr>
          <a:xfrm flipH="1" rot="-5400000">
            <a:off x="6569400" y="705325"/>
            <a:ext cx="478200" cy="17826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24" name="Google Shape;324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32550" y="1658625"/>
            <a:ext cx="283450" cy="28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68588" y="1733513"/>
            <a:ext cx="264300" cy="2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84300" y="4368883"/>
            <a:ext cx="309000" cy="29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27196" y="3750857"/>
            <a:ext cx="309000" cy="290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333" name="Google Shape;333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level System Design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Microservice architecture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 tenant architecture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</a:t>
            </a:r>
            <a:r>
              <a:rPr lang="en"/>
              <a:t> driven Architecture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Database Perservice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Interservice communication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Async service communication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339" name="Google Shape;339;p29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Microservice, </a:t>
            </a:r>
            <a:r>
              <a:rPr lang="en"/>
              <a:t>Multi-Tenant, SaaS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/>
          <p:nvPr>
            <p:ph type="title"/>
          </p:nvPr>
        </p:nvSpPr>
        <p:spPr>
          <a:xfrm>
            <a:off x="311700" y="555600"/>
            <a:ext cx="30858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Monolithic Application</a:t>
            </a:r>
            <a:endParaRPr/>
          </a:p>
        </p:txBody>
      </p:sp>
      <p:sp>
        <p:nvSpPr>
          <p:cNvPr id="345" name="Google Shape;345;p30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Modules -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Security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Accounting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Sales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Purchase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Inventory</a:t>
            </a:r>
            <a:endParaRPr/>
          </a:p>
        </p:txBody>
      </p:sp>
      <p:sp>
        <p:nvSpPr>
          <p:cNvPr id="346" name="Google Shape;346;p30"/>
          <p:cNvSpPr/>
          <p:nvPr/>
        </p:nvSpPr>
        <p:spPr>
          <a:xfrm>
            <a:off x="4251350" y="1056613"/>
            <a:ext cx="1138800" cy="30186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5390150" y="1056613"/>
            <a:ext cx="2211300" cy="1187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Accounting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5390150" y="2243713"/>
            <a:ext cx="1138800" cy="1187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Sales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6528950" y="2243713"/>
            <a:ext cx="1072500" cy="1187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Purchase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5390150" y="3430813"/>
            <a:ext cx="2808000" cy="644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Inventory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7601450" y="1056613"/>
            <a:ext cx="596700" cy="2374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4090150" y="874888"/>
            <a:ext cx="4327500" cy="3425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137600" y="4395613"/>
            <a:ext cx="42801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ERP Solution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835100" y="3583225"/>
            <a:ext cx="2125764" cy="1300104"/>
          </a:xfrm>
          <a:prstGeom prst="cloud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SaaS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2449050" y="4300600"/>
            <a:ext cx="530100" cy="530100"/>
          </a:xfrm>
          <a:prstGeom prst="noSmoking">
            <a:avLst>
              <a:gd fmla="val 18750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/>
          <p:nvPr/>
        </p:nvSpPr>
        <p:spPr>
          <a:xfrm>
            <a:off x="4090150" y="874888"/>
            <a:ext cx="4327500" cy="3425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" name="Google Shape;361;p31"/>
          <p:cNvSpPr txBox="1"/>
          <p:nvPr>
            <p:ph type="title"/>
          </p:nvPr>
        </p:nvSpPr>
        <p:spPr>
          <a:xfrm>
            <a:off x="311700" y="555600"/>
            <a:ext cx="30858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</a:t>
            </a:r>
            <a:r>
              <a:rPr lang="en"/>
              <a:t> Application</a:t>
            </a:r>
            <a:endParaRPr/>
          </a:p>
        </p:txBody>
      </p:sp>
      <p:sp>
        <p:nvSpPr>
          <p:cNvPr id="362" name="Google Shape;362;p31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</a:t>
            </a:r>
            <a:r>
              <a:rPr lang="en"/>
              <a:t> microservices -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Security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Accounting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Sales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Purchase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Inventory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Control resource usage individually</a:t>
            </a:r>
            <a:endParaRPr/>
          </a:p>
        </p:txBody>
      </p:sp>
      <p:sp>
        <p:nvSpPr>
          <p:cNvPr id="363" name="Google Shape;363;p31"/>
          <p:cNvSpPr/>
          <p:nvPr/>
        </p:nvSpPr>
        <p:spPr>
          <a:xfrm>
            <a:off x="4175150" y="980425"/>
            <a:ext cx="1138800" cy="3247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5390150" y="980425"/>
            <a:ext cx="2287500" cy="11871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Accounting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5390150" y="2281953"/>
            <a:ext cx="1138800" cy="1187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Sales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6605150" y="2281953"/>
            <a:ext cx="1072500" cy="1187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Purchase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5390150" y="3583225"/>
            <a:ext cx="2960400" cy="644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Inventory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7753850" y="980425"/>
            <a:ext cx="596700" cy="24885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9" name="Google Shape;369;p31"/>
          <p:cNvSpPr txBox="1"/>
          <p:nvPr/>
        </p:nvSpPr>
        <p:spPr>
          <a:xfrm>
            <a:off x="4137600" y="4395613"/>
            <a:ext cx="42801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ERP Solution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835100" y="3583225"/>
            <a:ext cx="2125764" cy="1300104"/>
          </a:xfrm>
          <a:prstGeom prst="cloud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SaaS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SaaS Consideration</a:t>
            </a:r>
            <a:endParaRPr/>
          </a:p>
        </p:txBody>
      </p:sp>
      <p:sp>
        <p:nvSpPr>
          <p:cNvPr id="376" name="Google Shape;376;p32"/>
          <p:cNvSpPr/>
          <p:nvPr/>
        </p:nvSpPr>
        <p:spPr>
          <a:xfrm>
            <a:off x="786150" y="693025"/>
            <a:ext cx="2017050" cy="3134225"/>
          </a:xfrm>
          <a:prstGeom prst="flowChartOffpageConnector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Subscriber wants to buy some specific modules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3563475" y="693025"/>
            <a:ext cx="2017050" cy="3134225"/>
          </a:xfrm>
          <a:prstGeom prst="flowChartOffpageConnector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Specific Module needs to be scaled up/down independently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6340800" y="693025"/>
            <a:ext cx="2017050" cy="3134225"/>
          </a:xfrm>
          <a:prstGeom prst="flowChartOffpageConnector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Microservice Architecture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9" name="Google Shape;379;p32"/>
          <p:cNvCxnSpPr>
            <a:stCxn id="376" idx="3"/>
            <a:endCxn id="377" idx="1"/>
          </p:cNvCxnSpPr>
          <p:nvPr/>
        </p:nvCxnSpPr>
        <p:spPr>
          <a:xfrm>
            <a:off x="2803200" y="2260138"/>
            <a:ext cx="760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32"/>
          <p:cNvCxnSpPr/>
          <p:nvPr/>
        </p:nvCxnSpPr>
        <p:spPr>
          <a:xfrm>
            <a:off x="5580525" y="2122913"/>
            <a:ext cx="760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</a:t>
            </a:r>
            <a:r>
              <a:rPr lang="en"/>
              <a:t> Consideration</a:t>
            </a:r>
            <a:endParaRPr/>
          </a:p>
        </p:txBody>
      </p:sp>
      <p:sp>
        <p:nvSpPr>
          <p:cNvPr id="386" name="Google Shape;386;p33"/>
          <p:cNvSpPr/>
          <p:nvPr/>
        </p:nvSpPr>
        <p:spPr>
          <a:xfrm>
            <a:off x="786150" y="693025"/>
            <a:ext cx="2017050" cy="3134225"/>
          </a:xfrm>
          <a:prstGeom prst="flowChartOffpageConnector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Microservice Architecture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Different stack can be used for different services</a:t>
            </a:r>
            <a:endParaRPr i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3563475" y="693025"/>
            <a:ext cx="2017050" cy="3134225"/>
          </a:xfrm>
          <a:prstGeom prst="flowChartOffpageConnector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Independent Database for each Services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Highly scalable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SQL / NoSQL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88" name="Google Shape;388;p33"/>
          <p:cNvCxnSpPr>
            <a:stCxn id="386" idx="3"/>
            <a:endCxn id="387" idx="1"/>
          </p:cNvCxnSpPr>
          <p:nvPr/>
        </p:nvCxnSpPr>
        <p:spPr>
          <a:xfrm>
            <a:off x="2803200" y="2260138"/>
            <a:ext cx="760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33"/>
          <p:cNvCxnSpPr/>
          <p:nvPr/>
        </p:nvCxnSpPr>
        <p:spPr>
          <a:xfrm>
            <a:off x="5580525" y="2122913"/>
            <a:ext cx="760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0" name="Google Shape;390;p33"/>
          <p:cNvSpPr/>
          <p:nvPr/>
        </p:nvSpPr>
        <p:spPr>
          <a:xfrm>
            <a:off x="6340800" y="2114550"/>
            <a:ext cx="2017050" cy="2703175"/>
          </a:xfrm>
          <a:prstGeom prst="flowChartOffpageConnector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BASE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Property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Basically Available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Soft-state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Eventually Consistent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6340800" y="486175"/>
            <a:ext cx="2017050" cy="2066700"/>
          </a:xfrm>
          <a:prstGeom prst="flowChartOffpageConnector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No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ACID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Property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Atomicity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Consistency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Isolation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Durability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Organization</a:t>
            </a:r>
            <a:r>
              <a:rPr lang="en"/>
              <a:t> Consideration</a:t>
            </a:r>
            <a:endParaRPr/>
          </a:p>
        </p:txBody>
      </p:sp>
      <p:sp>
        <p:nvSpPr>
          <p:cNvPr id="397" name="Google Shape;397;p34"/>
          <p:cNvSpPr/>
          <p:nvPr/>
        </p:nvSpPr>
        <p:spPr>
          <a:xfrm>
            <a:off x="786150" y="693025"/>
            <a:ext cx="2017050" cy="3134225"/>
          </a:xfrm>
          <a:prstGeom prst="flowChartOffpageConnector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Single Database per Service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3563475" y="693025"/>
            <a:ext cx="2017050" cy="3134225"/>
          </a:xfrm>
          <a:prstGeom prst="flowChartOffpageConnector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Different Schema for different organization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Logical Separation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of data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6340800" y="693025"/>
            <a:ext cx="2017050" cy="3134225"/>
          </a:xfrm>
          <a:prstGeom prst="flowChartOffpageConnector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Multi-tenant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Architecture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00" name="Google Shape;400;p34"/>
          <p:cNvCxnSpPr>
            <a:stCxn id="397" idx="3"/>
            <a:endCxn id="398" idx="1"/>
          </p:cNvCxnSpPr>
          <p:nvPr/>
        </p:nvCxnSpPr>
        <p:spPr>
          <a:xfrm>
            <a:off x="2803200" y="2260138"/>
            <a:ext cx="760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34"/>
          <p:cNvCxnSpPr/>
          <p:nvPr/>
        </p:nvCxnSpPr>
        <p:spPr>
          <a:xfrm>
            <a:off x="5580525" y="2122913"/>
            <a:ext cx="760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SaaS Special Considerations</a:t>
            </a:r>
            <a:endParaRPr/>
          </a:p>
        </p:txBody>
      </p:sp>
      <p:sp>
        <p:nvSpPr>
          <p:cNvPr id="407" name="Google Shape;407;p3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can buy any modules independently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need to scale each modules independently depending on the subscription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of Microservice Architecture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microservice has its own database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Instead of </a:t>
            </a:r>
            <a:r>
              <a:rPr b="1" i="1" lang="en"/>
              <a:t>ACID</a:t>
            </a:r>
            <a:r>
              <a:rPr lang="en"/>
              <a:t> (Atomicity, Consistency, Isolation, Durability), uses </a:t>
            </a:r>
            <a:r>
              <a:rPr b="1" i="1" lang="en"/>
              <a:t>BASE</a:t>
            </a:r>
            <a:r>
              <a:rPr lang="en"/>
              <a:t> (Basically Available, Soft-state, Eventually-consistent)</a:t>
            </a:r>
            <a:endParaRPr/>
          </a:p>
        </p:txBody>
      </p:sp>
      <p:sp>
        <p:nvSpPr>
          <p:cNvPr id="408" name="Google Shape;408;p35"/>
          <p:cNvSpPr txBox="1"/>
          <p:nvPr>
            <p:ph idx="2" type="body"/>
          </p:nvPr>
        </p:nvSpPr>
        <p:spPr>
          <a:xfrm>
            <a:off x="4832400" y="1225225"/>
            <a:ext cx="4097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 are shared by different organizations, What about database?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Different Schema for </a:t>
            </a:r>
            <a:r>
              <a:rPr lang="en"/>
              <a:t>different</a:t>
            </a:r>
            <a:r>
              <a:rPr lang="en"/>
              <a:t> organization in same database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Logical Separation of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Special Services for common tasks: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File Service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Utility Service (Email)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Microservice</a:t>
            </a:r>
            <a:endParaRPr/>
          </a:p>
        </p:txBody>
      </p:sp>
      <p:grpSp>
        <p:nvGrpSpPr>
          <p:cNvPr id="414" name="Google Shape;414;p36"/>
          <p:cNvGrpSpPr/>
          <p:nvPr/>
        </p:nvGrpSpPr>
        <p:grpSpPr>
          <a:xfrm>
            <a:off x="683513" y="1613275"/>
            <a:ext cx="1917000" cy="2457900"/>
            <a:chOff x="683513" y="1613275"/>
            <a:chExt cx="1917000" cy="2457900"/>
          </a:xfrm>
        </p:grpSpPr>
        <p:sp>
          <p:nvSpPr>
            <p:cNvPr id="415" name="Google Shape;415;p36"/>
            <p:cNvSpPr/>
            <p:nvPr/>
          </p:nvSpPr>
          <p:spPr>
            <a:xfrm>
              <a:off x="683513" y="1613275"/>
              <a:ext cx="1917000" cy="24579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16" name="Google Shape;416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3625" y="1771004"/>
              <a:ext cx="616800" cy="61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6"/>
            <p:cNvSpPr txBox="1"/>
            <p:nvPr/>
          </p:nvSpPr>
          <p:spPr>
            <a:xfrm>
              <a:off x="1082400" y="3274000"/>
              <a:ext cx="1062300" cy="6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Web Application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18" name="Google Shape;418;p36"/>
          <p:cNvGrpSpPr/>
          <p:nvPr/>
        </p:nvGrpSpPr>
        <p:grpSpPr>
          <a:xfrm>
            <a:off x="4020300" y="750275"/>
            <a:ext cx="1350900" cy="1660200"/>
            <a:chOff x="4020300" y="750275"/>
            <a:chExt cx="1350900" cy="1660200"/>
          </a:xfrm>
        </p:grpSpPr>
        <p:sp>
          <p:nvSpPr>
            <p:cNvPr id="419" name="Google Shape;419;p36"/>
            <p:cNvSpPr/>
            <p:nvPr/>
          </p:nvSpPr>
          <p:spPr>
            <a:xfrm>
              <a:off x="4020300" y="750275"/>
              <a:ext cx="1350900" cy="16602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20" name="Google Shape;42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28250" y="1033350"/>
              <a:ext cx="748824" cy="7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36"/>
            <p:cNvSpPr txBox="1"/>
            <p:nvPr/>
          </p:nvSpPr>
          <p:spPr>
            <a:xfrm>
              <a:off x="4171513" y="1916950"/>
              <a:ext cx="1062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Vault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422" name="Google Shape;422;p36"/>
          <p:cNvCxnSpPr>
            <a:stCxn id="415" idx="3"/>
            <a:endCxn id="419" idx="1"/>
          </p:cNvCxnSpPr>
          <p:nvPr/>
        </p:nvCxnSpPr>
        <p:spPr>
          <a:xfrm flipH="1" rot="10800000">
            <a:off x="2600513" y="1580425"/>
            <a:ext cx="1419900" cy="1261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23" name="Google Shape;423;p36"/>
          <p:cNvGrpSpPr/>
          <p:nvPr/>
        </p:nvGrpSpPr>
        <p:grpSpPr>
          <a:xfrm>
            <a:off x="4020300" y="2842225"/>
            <a:ext cx="1350900" cy="1660200"/>
            <a:chOff x="4020300" y="2842225"/>
            <a:chExt cx="1350900" cy="1660200"/>
          </a:xfrm>
        </p:grpSpPr>
        <p:grpSp>
          <p:nvGrpSpPr>
            <p:cNvPr id="424" name="Google Shape;424;p36"/>
            <p:cNvGrpSpPr/>
            <p:nvPr/>
          </p:nvGrpSpPr>
          <p:grpSpPr>
            <a:xfrm>
              <a:off x="4020300" y="2842225"/>
              <a:ext cx="1350900" cy="1660200"/>
              <a:chOff x="4020300" y="750275"/>
              <a:chExt cx="1350900" cy="1660200"/>
            </a:xfrm>
          </p:grpSpPr>
          <p:sp>
            <p:nvSpPr>
              <p:cNvPr id="425" name="Google Shape;425;p36"/>
              <p:cNvSpPr/>
              <p:nvPr/>
            </p:nvSpPr>
            <p:spPr>
              <a:xfrm>
                <a:off x="4020300" y="750275"/>
                <a:ext cx="1350900" cy="1660200"/>
              </a:xfrm>
              <a:prstGeom prst="rect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26" name="Google Shape;426;p36"/>
              <p:cNvSpPr txBox="1"/>
              <p:nvPr/>
            </p:nvSpPr>
            <p:spPr>
              <a:xfrm>
                <a:off x="4171513" y="1916950"/>
                <a:ext cx="1062300" cy="37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Database</a:t>
                </a:r>
                <a:endParaRPr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pic>
          <p:nvPicPr>
            <p:cNvPr id="427" name="Google Shape;427;p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07289" y="2933900"/>
              <a:ext cx="776925" cy="109872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28" name="Google Shape;428;p36"/>
          <p:cNvCxnSpPr>
            <a:stCxn id="415" idx="3"/>
            <a:endCxn id="425" idx="1"/>
          </p:cNvCxnSpPr>
          <p:nvPr/>
        </p:nvCxnSpPr>
        <p:spPr>
          <a:xfrm>
            <a:off x="2600513" y="2842225"/>
            <a:ext cx="1419900" cy="83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29" name="Google Shape;429;p36"/>
          <p:cNvGrpSpPr/>
          <p:nvPr/>
        </p:nvGrpSpPr>
        <p:grpSpPr>
          <a:xfrm>
            <a:off x="6406472" y="2499775"/>
            <a:ext cx="1419900" cy="1887900"/>
            <a:chOff x="6235647" y="750275"/>
            <a:chExt cx="1419900" cy="1887900"/>
          </a:xfrm>
        </p:grpSpPr>
        <p:sp>
          <p:nvSpPr>
            <p:cNvPr id="430" name="Google Shape;430;p36"/>
            <p:cNvSpPr/>
            <p:nvPr/>
          </p:nvSpPr>
          <p:spPr>
            <a:xfrm>
              <a:off x="6235647" y="750275"/>
              <a:ext cx="1419900" cy="18879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31" name="Google Shape;431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456050" y="924700"/>
              <a:ext cx="1039700" cy="103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6"/>
            <p:cNvSpPr txBox="1"/>
            <p:nvPr/>
          </p:nvSpPr>
          <p:spPr>
            <a:xfrm>
              <a:off x="6444738" y="2144800"/>
              <a:ext cx="1062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Schema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Company A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33" name="Google Shape;433;p36"/>
          <p:cNvGrpSpPr/>
          <p:nvPr/>
        </p:nvGrpSpPr>
        <p:grpSpPr>
          <a:xfrm>
            <a:off x="6558872" y="2652175"/>
            <a:ext cx="1419900" cy="1887900"/>
            <a:chOff x="6235647" y="750275"/>
            <a:chExt cx="1419900" cy="1887900"/>
          </a:xfrm>
        </p:grpSpPr>
        <p:sp>
          <p:nvSpPr>
            <p:cNvPr id="434" name="Google Shape;434;p36"/>
            <p:cNvSpPr/>
            <p:nvPr/>
          </p:nvSpPr>
          <p:spPr>
            <a:xfrm>
              <a:off x="6235647" y="750275"/>
              <a:ext cx="1419900" cy="18879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35" name="Google Shape;435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456050" y="924700"/>
              <a:ext cx="1039700" cy="103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6444738" y="2144800"/>
              <a:ext cx="1062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Schema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Company A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37" name="Google Shape;437;p36"/>
          <p:cNvGrpSpPr/>
          <p:nvPr/>
        </p:nvGrpSpPr>
        <p:grpSpPr>
          <a:xfrm>
            <a:off x="6711272" y="2804575"/>
            <a:ext cx="1419900" cy="1887900"/>
            <a:chOff x="6235647" y="750275"/>
            <a:chExt cx="1419900" cy="1887900"/>
          </a:xfrm>
        </p:grpSpPr>
        <p:sp>
          <p:nvSpPr>
            <p:cNvPr id="438" name="Google Shape;438;p36"/>
            <p:cNvSpPr/>
            <p:nvPr/>
          </p:nvSpPr>
          <p:spPr>
            <a:xfrm>
              <a:off x="6235647" y="750275"/>
              <a:ext cx="1419900" cy="18879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39" name="Google Shape;439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456050" y="924700"/>
              <a:ext cx="1039700" cy="103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p36"/>
            <p:cNvSpPr txBox="1"/>
            <p:nvPr/>
          </p:nvSpPr>
          <p:spPr>
            <a:xfrm>
              <a:off x="6444738" y="2144800"/>
              <a:ext cx="1062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Schema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Company A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1" name="Google Shape;441;p36"/>
          <p:cNvGrpSpPr/>
          <p:nvPr/>
        </p:nvGrpSpPr>
        <p:grpSpPr>
          <a:xfrm>
            <a:off x="6863672" y="2956975"/>
            <a:ext cx="1419900" cy="1887900"/>
            <a:chOff x="6235647" y="750275"/>
            <a:chExt cx="1419900" cy="1887900"/>
          </a:xfrm>
        </p:grpSpPr>
        <p:sp>
          <p:nvSpPr>
            <p:cNvPr id="442" name="Google Shape;442;p36"/>
            <p:cNvSpPr/>
            <p:nvPr/>
          </p:nvSpPr>
          <p:spPr>
            <a:xfrm>
              <a:off x="6235647" y="750275"/>
              <a:ext cx="1419900" cy="18879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43" name="Google Shape;443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456050" y="924700"/>
              <a:ext cx="1039700" cy="103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4" name="Google Shape;444;p36"/>
            <p:cNvSpPr txBox="1"/>
            <p:nvPr/>
          </p:nvSpPr>
          <p:spPr>
            <a:xfrm>
              <a:off x="6444738" y="2144800"/>
              <a:ext cx="1062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Schema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Company A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445" name="Google Shape;445;p36"/>
          <p:cNvCxnSpPr>
            <a:stCxn id="425" idx="3"/>
          </p:cNvCxnSpPr>
          <p:nvPr/>
        </p:nvCxnSpPr>
        <p:spPr>
          <a:xfrm>
            <a:off x="5371200" y="3672325"/>
            <a:ext cx="1044000" cy="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36"/>
          <p:cNvSpPr txBox="1"/>
          <p:nvPr/>
        </p:nvSpPr>
        <p:spPr>
          <a:xfrm>
            <a:off x="4020425" y="483975"/>
            <a:ext cx="13257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Secret Provider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305375" y="4194175"/>
            <a:ext cx="2673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Independent Development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48" name="Google Shape;448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17175" y="1841302"/>
            <a:ext cx="569175" cy="56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9175" y="2593118"/>
            <a:ext cx="1325700" cy="49821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6"/>
          <p:cNvSpPr txBox="1"/>
          <p:nvPr/>
        </p:nvSpPr>
        <p:spPr>
          <a:xfrm>
            <a:off x="3590550" y="4540075"/>
            <a:ext cx="22104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Independent Database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1" name="Google Shape;451;p36"/>
          <p:cNvSpPr txBox="1"/>
          <p:nvPr/>
        </p:nvSpPr>
        <p:spPr>
          <a:xfrm>
            <a:off x="5895875" y="1879150"/>
            <a:ext cx="27459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Multi-tenant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Architecture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7"/>
          <p:cNvSpPr txBox="1"/>
          <p:nvPr>
            <p:ph type="title"/>
          </p:nvPr>
        </p:nvSpPr>
        <p:spPr>
          <a:xfrm>
            <a:off x="359150" y="0"/>
            <a:ext cx="8520600" cy="8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Microservices</a:t>
            </a:r>
            <a:endParaRPr/>
          </a:p>
        </p:txBody>
      </p:sp>
      <p:sp>
        <p:nvSpPr>
          <p:cNvPr id="457" name="Google Shape;457;p37"/>
          <p:cNvSpPr/>
          <p:nvPr/>
        </p:nvSpPr>
        <p:spPr>
          <a:xfrm>
            <a:off x="622000" y="3339938"/>
            <a:ext cx="1452000" cy="62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58" name="Google Shape;45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725" y="3136445"/>
            <a:ext cx="431276" cy="4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9688" y="3155739"/>
            <a:ext cx="392675" cy="3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2375" y="4098950"/>
            <a:ext cx="702725" cy="702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1" name="Google Shape;461;p37"/>
          <p:cNvCxnSpPr>
            <a:stCxn id="457" idx="2"/>
            <a:endCxn id="460" idx="0"/>
          </p:cNvCxnSpPr>
          <p:nvPr/>
        </p:nvCxnSpPr>
        <p:spPr>
          <a:xfrm flipH="1">
            <a:off x="1343800" y="3966338"/>
            <a:ext cx="4200" cy="1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2" name="Google Shape;462;p37"/>
          <p:cNvSpPr/>
          <p:nvPr/>
        </p:nvSpPr>
        <p:spPr>
          <a:xfrm>
            <a:off x="2795450" y="3339938"/>
            <a:ext cx="1452000" cy="62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Accounting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63" name="Google Shape;46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4475" y="3080364"/>
            <a:ext cx="392675" cy="3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6625" y="4098950"/>
            <a:ext cx="702725" cy="702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5" name="Google Shape;465;p37"/>
          <p:cNvCxnSpPr>
            <a:stCxn id="462" idx="2"/>
            <a:endCxn id="464" idx="0"/>
          </p:cNvCxnSpPr>
          <p:nvPr/>
        </p:nvCxnSpPr>
        <p:spPr>
          <a:xfrm flipH="1">
            <a:off x="3507950" y="3966338"/>
            <a:ext cx="13500" cy="1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6" name="Google Shape;466;p37"/>
          <p:cNvSpPr/>
          <p:nvPr/>
        </p:nvSpPr>
        <p:spPr>
          <a:xfrm>
            <a:off x="4946175" y="3339938"/>
            <a:ext cx="1452000" cy="62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File Service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67" name="Google Shape;46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6175" y="4098950"/>
            <a:ext cx="702725" cy="702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8" name="Google Shape;468;p37"/>
          <p:cNvCxnSpPr>
            <a:stCxn id="466" idx="2"/>
            <a:endCxn id="467" idx="0"/>
          </p:cNvCxnSpPr>
          <p:nvPr/>
        </p:nvCxnSpPr>
        <p:spPr>
          <a:xfrm flipH="1">
            <a:off x="5297475" y="3966338"/>
            <a:ext cx="374700" cy="1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69" name="Google Shape;469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7700" y="4140103"/>
            <a:ext cx="702725" cy="6203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0" name="Google Shape;470;p37"/>
          <p:cNvCxnSpPr>
            <a:stCxn id="466" idx="2"/>
            <a:endCxn id="469" idx="0"/>
          </p:cNvCxnSpPr>
          <p:nvPr/>
        </p:nvCxnSpPr>
        <p:spPr>
          <a:xfrm>
            <a:off x="5672175" y="3966338"/>
            <a:ext cx="417000" cy="17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71" name="Google Shape;471;p37"/>
          <p:cNvPicPr preferRelativeResize="0"/>
          <p:nvPr/>
        </p:nvPicPr>
        <p:blipFill rotWithShape="1">
          <a:blip r:embed="rId7">
            <a:alphaModFix/>
          </a:blip>
          <a:srcRect b="27124" l="0" r="0" t="29048"/>
          <a:stretch/>
        </p:blipFill>
        <p:spPr>
          <a:xfrm>
            <a:off x="5591425" y="3206438"/>
            <a:ext cx="794875" cy="307976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7"/>
          <p:cNvSpPr/>
          <p:nvPr/>
        </p:nvSpPr>
        <p:spPr>
          <a:xfrm>
            <a:off x="7096900" y="3372013"/>
            <a:ext cx="1452000" cy="62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Utility (Email)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73" name="Google Shape;47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4787" y="4127425"/>
            <a:ext cx="702725" cy="702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4" name="Google Shape;474;p37"/>
          <p:cNvCxnSpPr>
            <a:stCxn id="472" idx="2"/>
            <a:endCxn id="473" idx="0"/>
          </p:cNvCxnSpPr>
          <p:nvPr/>
        </p:nvCxnSpPr>
        <p:spPr>
          <a:xfrm flipH="1">
            <a:off x="7816000" y="3998413"/>
            <a:ext cx="6900" cy="12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p37"/>
          <p:cNvSpPr/>
          <p:nvPr/>
        </p:nvSpPr>
        <p:spPr>
          <a:xfrm>
            <a:off x="7059400" y="1374388"/>
            <a:ext cx="1452000" cy="62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Sales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76" name="Google Shape;47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0575" y="2118025"/>
            <a:ext cx="702725" cy="702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7" name="Google Shape;477;p37"/>
          <p:cNvCxnSpPr>
            <a:stCxn id="475" idx="2"/>
            <a:endCxn id="476" idx="0"/>
          </p:cNvCxnSpPr>
          <p:nvPr/>
        </p:nvCxnSpPr>
        <p:spPr>
          <a:xfrm flipH="1">
            <a:off x="7771900" y="2000788"/>
            <a:ext cx="13500" cy="1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78" name="Google Shape;478;p37"/>
          <p:cNvGrpSpPr/>
          <p:nvPr/>
        </p:nvGrpSpPr>
        <p:grpSpPr>
          <a:xfrm>
            <a:off x="2520300" y="767113"/>
            <a:ext cx="3040430" cy="1110300"/>
            <a:chOff x="2495825" y="1007800"/>
            <a:chExt cx="3528000" cy="1110300"/>
          </a:xfrm>
        </p:grpSpPr>
        <p:sp>
          <p:nvSpPr>
            <p:cNvPr id="479" name="Google Shape;479;p37"/>
            <p:cNvSpPr/>
            <p:nvPr/>
          </p:nvSpPr>
          <p:spPr>
            <a:xfrm>
              <a:off x="2495825" y="1007800"/>
              <a:ext cx="3528000" cy="1110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rgbClr val="932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Open Sans"/>
                  <a:ea typeface="Open Sans"/>
                  <a:cs typeface="Open Sans"/>
                  <a:sym typeface="Open Sans"/>
                </a:rPr>
                <a:t>Message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Open Sans"/>
                  <a:ea typeface="Open Sans"/>
                  <a:cs typeface="Open Sans"/>
                  <a:sym typeface="Open Sans"/>
                </a:rPr>
                <a:t>Queue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80" name="Google Shape;480;p3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780796" y="1211600"/>
              <a:ext cx="2209097" cy="757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pSp>
        <p:nvGrpSpPr>
          <p:cNvPr id="481" name="Google Shape;481;p37"/>
          <p:cNvGrpSpPr/>
          <p:nvPr/>
        </p:nvGrpSpPr>
        <p:grpSpPr>
          <a:xfrm>
            <a:off x="359150" y="1792488"/>
            <a:ext cx="1903800" cy="906600"/>
            <a:chOff x="359150" y="1792488"/>
            <a:chExt cx="1903800" cy="906600"/>
          </a:xfrm>
        </p:grpSpPr>
        <p:sp>
          <p:nvSpPr>
            <p:cNvPr id="482" name="Google Shape;482;p37"/>
            <p:cNvSpPr/>
            <p:nvPr/>
          </p:nvSpPr>
          <p:spPr>
            <a:xfrm>
              <a:off x="359150" y="1792488"/>
              <a:ext cx="1903800" cy="906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Open Sans"/>
                  <a:ea typeface="Open Sans"/>
                  <a:cs typeface="Open Sans"/>
                  <a:sym typeface="Open Sans"/>
                </a:rPr>
                <a:t>Application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Open Sans"/>
                  <a:ea typeface="Open Sans"/>
                  <a:cs typeface="Open Sans"/>
                  <a:sym typeface="Open Sans"/>
                </a:rPr>
                <a:t>Gateway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83" name="Google Shape;483;p3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71725" y="1882585"/>
              <a:ext cx="549900" cy="549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484" name="Google Shape;484;p37"/>
          <p:cNvSpPr/>
          <p:nvPr/>
        </p:nvSpPr>
        <p:spPr>
          <a:xfrm>
            <a:off x="996425" y="1268663"/>
            <a:ext cx="493500" cy="512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85" name="Google Shape;485;p37"/>
          <p:cNvCxnSpPr/>
          <p:nvPr/>
        </p:nvCxnSpPr>
        <p:spPr>
          <a:xfrm>
            <a:off x="730725" y="2714100"/>
            <a:ext cx="5400" cy="62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486" name="Google Shape;486;p37"/>
          <p:cNvCxnSpPr>
            <a:stCxn id="482" idx="3"/>
            <a:endCxn id="462" idx="1"/>
          </p:cNvCxnSpPr>
          <p:nvPr/>
        </p:nvCxnSpPr>
        <p:spPr>
          <a:xfrm>
            <a:off x="2262950" y="2245788"/>
            <a:ext cx="532500" cy="1407300"/>
          </a:xfrm>
          <a:prstGeom prst="curvedConnector3">
            <a:avLst>
              <a:gd fmla="val 4373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487" name="Google Shape;48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613" y="3061070"/>
            <a:ext cx="431276" cy="4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0538" y="3144795"/>
            <a:ext cx="431276" cy="4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88" y="3155739"/>
            <a:ext cx="392675" cy="3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1125" y="3136445"/>
            <a:ext cx="431276" cy="4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8875" y="1125914"/>
            <a:ext cx="392675" cy="3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013" y="1106620"/>
            <a:ext cx="431276" cy="431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3" name="Google Shape;493;p37"/>
          <p:cNvCxnSpPr>
            <a:stCxn id="482" idx="3"/>
            <a:endCxn id="466" idx="1"/>
          </p:cNvCxnSpPr>
          <p:nvPr/>
        </p:nvCxnSpPr>
        <p:spPr>
          <a:xfrm>
            <a:off x="2262950" y="2245788"/>
            <a:ext cx="2683200" cy="1407300"/>
          </a:xfrm>
          <a:prstGeom prst="curvedConnector3">
            <a:avLst>
              <a:gd fmla="val 6774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4" name="Google Shape;494;p37"/>
          <p:cNvCxnSpPr>
            <a:stCxn id="482" idx="3"/>
            <a:endCxn id="472" idx="1"/>
          </p:cNvCxnSpPr>
          <p:nvPr/>
        </p:nvCxnSpPr>
        <p:spPr>
          <a:xfrm>
            <a:off x="2262950" y="2245788"/>
            <a:ext cx="4833900" cy="1439400"/>
          </a:xfrm>
          <a:prstGeom prst="curvedConnector3">
            <a:avLst>
              <a:gd fmla="val 7883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5" name="Google Shape;495;p37"/>
          <p:cNvCxnSpPr>
            <a:stCxn id="482" idx="3"/>
            <a:endCxn id="475" idx="1"/>
          </p:cNvCxnSpPr>
          <p:nvPr/>
        </p:nvCxnSpPr>
        <p:spPr>
          <a:xfrm flipH="1" rot="10800000">
            <a:off x="2262950" y="1687488"/>
            <a:ext cx="4796400" cy="558300"/>
          </a:xfrm>
          <a:prstGeom prst="curvedConnector3">
            <a:avLst>
              <a:gd fmla="val 7568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6" name="Google Shape;496;p37"/>
          <p:cNvSpPr txBox="1"/>
          <p:nvPr/>
        </p:nvSpPr>
        <p:spPr>
          <a:xfrm>
            <a:off x="538175" y="2417850"/>
            <a:ext cx="41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Auth</a:t>
            </a:r>
            <a:endParaRPr sz="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97" name="Google Shape;497;p37"/>
          <p:cNvCxnSpPr>
            <a:stCxn id="457" idx="3"/>
          </p:cNvCxnSpPr>
          <p:nvPr/>
        </p:nvCxnSpPr>
        <p:spPr>
          <a:xfrm flipH="1" rot="10800000">
            <a:off x="2074000" y="1882538"/>
            <a:ext cx="915300" cy="1770600"/>
          </a:xfrm>
          <a:prstGeom prst="curvedConnector2">
            <a:avLst/>
          </a:prstGeom>
          <a:noFill/>
          <a:ln cap="flat" cmpd="sng" w="9525">
            <a:solidFill>
              <a:srgbClr val="932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37"/>
          <p:cNvCxnSpPr>
            <a:stCxn id="462" idx="3"/>
            <a:endCxn id="479" idx="2"/>
          </p:cNvCxnSpPr>
          <p:nvPr/>
        </p:nvCxnSpPr>
        <p:spPr>
          <a:xfrm rot="10800000">
            <a:off x="4040450" y="1877438"/>
            <a:ext cx="207000" cy="1775700"/>
          </a:xfrm>
          <a:prstGeom prst="curvedConnector4">
            <a:avLst>
              <a:gd fmla="val -115036" name="adj1"/>
              <a:gd fmla="val 58820" name="adj2"/>
            </a:avLst>
          </a:prstGeom>
          <a:noFill/>
          <a:ln cap="flat" cmpd="sng" w="9525">
            <a:solidFill>
              <a:srgbClr val="932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37"/>
          <p:cNvCxnSpPr>
            <a:stCxn id="466" idx="1"/>
          </p:cNvCxnSpPr>
          <p:nvPr/>
        </p:nvCxnSpPr>
        <p:spPr>
          <a:xfrm rot="10800000">
            <a:off x="4509975" y="1882538"/>
            <a:ext cx="436200" cy="1770600"/>
          </a:xfrm>
          <a:prstGeom prst="curvedConnector2">
            <a:avLst/>
          </a:prstGeom>
          <a:noFill/>
          <a:ln cap="flat" cmpd="sng" w="9525">
            <a:solidFill>
              <a:srgbClr val="932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7"/>
          <p:cNvCxnSpPr>
            <a:stCxn id="472" idx="1"/>
            <a:endCxn id="479" idx="3"/>
          </p:cNvCxnSpPr>
          <p:nvPr/>
        </p:nvCxnSpPr>
        <p:spPr>
          <a:xfrm rot="10800000">
            <a:off x="5560600" y="1322113"/>
            <a:ext cx="1536300" cy="23631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rgbClr val="932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7"/>
          <p:cNvCxnSpPr>
            <a:stCxn id="475" idx="1"/>
            <a:endCxn id="479" idx="3"/>
          </p:cNvCxnSpPr>
          <p:nvPr/>
        </p:nvCxnSpPr>
        <p:spPr>
          <a:xfrm rot="10800000">
            <a:off x="5560600" y="1322188"/>
            <a:ext cx="1498800" cy="3654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rgbClr val="9325A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8"/>
          <p:cNvSpPr/>
          <p:nvPr/>
        </p:nvSpPr>
        <p:spPr>
          <a:xfrm>
            <a:off x="2653400" y="1389150"/>
            <a:ext cx="3190200" cy="25098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7" name="Google Shape;507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Driven Architecture with Kafka</a:t>
            </a:r>
            <a:endParaRPr/>
          </a:p>
        </p:txBody>
      </p:sp>
      <p:sp>
        <p:nvSpPr>
          <p:cNvPr id="508" name="Google Shape;508;p38"/>
          <p:cNvSpPr/>
          <p:nvPr/>
        </p:nvSpPr>
        <p:spPr>
          <a:xfrm>
            <a:off x="597200" y="1980600"/>
            <a:ext cx="1103700" cy="461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Sales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9" name="Google Shape;509;p38"/>
          <p:cNvSpPr/>
          <p:nvPr/>
        </p:nvSpPr>
        <p:spPr>
          <a:xfrm>
            <a:off x="597200" y="2616800"/>
            <a:ext cx="1103700" cy="461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Purchase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0" name="Google Shape;510;p38"/>
          <p:cNvSpPr/>
          <p:nvPr/>
        </p:nvSpPr>
        <p:spPr>
          <a:xfrm>
            <a:off x="6562875" y="1980600"/>
            <a:ext cx="1299000" cy="461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Accounting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p38"/>
          <p:cNvSpPr/>
          <p:nvPr/>
        </p:nvSpPr>
        <p:spPr>
          <a:xfrm>
            <a:off x="597200" y="3275400"/>
            <a:ext cx="1103700" cy="461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HR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2" name="Google Shape;512;p38"/>
          <p:cNvSpPr/>
          <p:nvPr/>
        </p:nvSpPr>
        <p:spPr>
          <a:xfrm>
            <a:off x="6562875" y="3275400"/>
            <a:ext cx="1299000" cy="461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Inventory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3" name="Google Shape;513;p38"/>
          <p:cNvSpPr/>
          <p:nvPr/>
        </p:nvSpPr>
        <p:spPr>
          <a:xfrm>
            <a:off x="2925525" y="1980600"/>
            <a:ext cx="2668500" cy="461100"/>
          </a:xfrm>
          <a:prstGeom prst="roundRect">
            <a:avLst>
              <a:gd fmla="val 16667" name="adj"/>
            </a:avLst>
          </a:prstGeom>
          <a:solidFill>
            <a:srgbClr val="FEC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Invoice_created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4" name="Google Shape;514;p38"/>
          <p:cNvSpPr/>
          <p:nvPr/>
        </p:nvSpPr>
        <p:spPr>
          <a:xfrm>
            <a:off x="2925525" y="2616800"/>
            <a:ext cx="2668500" cy="461100"/>
          </a:xfrm>
          <a:prstGeom prst="roundRect">
            <a:avLst>
              <a:gd fmla="val 16667" name="adj"/>
            </a:avLst>
          </a:prstGeom>
          <a:solidFill>
            <a:srgbClr val="FEC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Order_created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5" name="Google Shape;515;p38"/>
          <p:cNvCxnSpPr>
            <a:stCxn id="508" idx="3"/>
            <a:endCxn id="513" idx="1"/>
          </p:cNvCxnSpPr>
          <p:nvPr/>
        </p:nvCxnSpPr>
        <p:spPr>
          <a:xfrm>
            <a:off x="1700900" y="2211150"/>
            <a:ext cx="122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38"/>
          <p:cNvCxnSpPr>
            <a:stCxn id="513" idx="3"/>
            <a:endCxn id="510" idx="1"/>
          </p:cNvCxnSpPr>
          <p:nvPr/>
        </p:nvCxnSpPr>
        <p:spPr>
          <a:xfrm>
            <a:off x="5594025" y="2211150"/>
            <a:ext cx="96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38"/>
          <p:cNvCxnSpPr>
            <a:stCxn id="513" idx="3"/>
            <a:endCxn id="512" idx="1"/>
          </p:cNvCxnSpPr>
          <p:nvPr/>
        </p:nvCxnSpPr>
        <p:spPr>
          <a:xfrm>
            <a:off x="5594025" y="2211150"/>
            <a:ext cx="969000" cy="129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38"/>
          <p:cNvCxnSpPr>
            <a:stCxn id="509" idx="3"/>
            <a:endCxn id="514" idx="1"/>
          </p:cNvCxnSpPr>
          <p:nvPr/>
        </p:nvCxnSpPr>
        <p:spPr>
          <a:xfrm>
            <a:off x="1700900" y="2847350"/>
            <a:ext cx="122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38"/>
          <p:cNvCxnSpPr>
            <a:stCxn id="514" idx="3"/>
            <a:endCxn id="510" idx="1"/>
          </p:cNvCxnSpPr>
          <p:nvPr/>
        </p:nvCxnSpPr>
        <p:spPr>
          <a:xfrm flipH="1" rot="10800000">
            <a:off x="5594025" y="2211050"/>
            <a:ext cx="969000" cy="63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38"/>
          <p:cNvCxnSpPr>
            <a:stCxn id="514" idx="3"/>
            <a:endCxn id="512" idx="1"/>
          </p:cNvCxnSpPr>
          <p:nvPr/>
        </p:nvCxnSpPr>
        <p:spPr>
          <a:xfrm>
            <a:off x="5594025" y="2847350"/>
            <a:ext cx="969000" cy="6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1" name="Google Shape;521;p38"/>
          <p:cNvSpPr/>
          <p:nvPr/>
        </p:nvSpPr>
        <p:spPr>
          <a:xfrm>
            <a:off x="2956975" y="3275400"/>
            <a:ext cx="2668500" cy="461100"/>
          </a:xfrm>
          <a:prstGeom prst="roundRect">
            <a:avLst>
              <a:gd fmla="val 16667" name="adj"/>
            </a:avLst>
          </a:prstGeom>
          <a:solidFill>
            <a:srgbClr val="FEC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Salary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_disbursed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2" name="Google Shape;522;p38"/>
          <p:cNvCxnSpPr>
            <a:stCxn id="521" idx="3"/>
            <a:endCxn id="510" idx="1"/>
          </p:cNvCxnSpPr>
          <p:nvPr/>
        </p:nvCxnSpPr>
        <p:spPr>
          <a:xfrm flipH="1" rot="10800000">
            <a:off x="5625475" y="2211150"/>
            <a:ext cx="937500" cy="129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38"/>
          <p:cNvCxnSpPr>
            <a:stCxn id="511" idx="3"/>
            <a:endCxn id="521" idx="1"/>
          </p:cNvCxnSpPr>
          <p:nvPr/>
        </p:nvCxnSpPr>
        <p:spPr>
          <a:xfrm>
            <a:off x="1700900" y="3505950"/>
            <a:ext cx="125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4" name="Google Shape;524;p38"/>
          <p:cNvSpPr txBox="1"/>
          <p:nvPr/>
        </p:nvSpPr>
        <p:spPr>
          <a:xfrm>
            <a:off x="2970900" y="1549700"/>
            <a:ext cx="2623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Kafka Cluster</a:t>
            </a:r>
            <a:endParaRPr b="1"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5" name="Google Shape;525;p38"/>
          <p:cNvSpPr txBox="1"/>
          <p:nvPr/>
        </p:nvSpPr>
        <p:spPr>
          <a:xfrm>
            <a:off x="559400" y="4059450"/>
            <a:ext cx="14892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Producers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6" name="Google Shape;526;p38"/>
          <p:cNvSpPr txBox="1"/>
          <p:nvPr/>
        </p:nvSpPr>
        <p:spPr>
          <a:xfrm>
            <a:off x="6467775" y="3938500"/>
            <a:ext cx="14892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Consumers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Dive into Authentication </a:t>
            </a:r>
            <a:r>
              <a:rPr lang="en">
                <a:solidFill>
                  <a:srgbClr val="858585"/>
                </a:solidFill>
              </a:rPr>
              <a:t>#Normal</a:t>
            </a:r>
            <a:endParaRPr>
              <a:solidFill>
                <a:srgbClr val="858585"/>
              </a:solidFill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3501400" y="1903088"/>
            <a:ext cx="1452000" cy="62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33" name="Google Shape;53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125" y="1699595"/>
            <a:ext cx="431276" cy="4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088" y="1718889"/>
            <a:ext cx="392675" cy="3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1900" y="1855451"/>
            <a:ext cx="702725" cy="7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9"/>
          <p:cNvSpPr/>
          <p:nvPr/>
        </p:nvSpPr>
        <p:spPr>
          <a:xfrm>
            <a:off x="620625" y="1911543"/>
            <a:ext cx="1655100" cy="626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Token / Session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37" name="Google Shape;537;p39"/>
          <p:cNvCxnSpPr>
            <a:stCxn id="536" idx="3"/>
            <a:endCxn id="532" idx="1"/>
          </p:cNvCxnSpPr>
          <p:nvPr/>
        </p:nvCxnSpPr>
        <p:spPr>
          <a:xfrm flipH="1" rot="10800000">
            <a:off x="2275725" y="2216343"/>
            <a:ext cx="1225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39"/>
          <p:cNvCxnSpPr>
            <a:stCxn id="532" idx="3"/>
            <a:endCxn id="535" idx="1"/>
          </p:cNvCxnSpPr>
          <p:nvPr/>
        </p:nvCxnSpPr>
        <p:spPr>
          <a:xfrm flipH="1" rot="10800000">
            <a:off x="4953400" y="2206688"/>
            <a:ext cx="2038500" cy="96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Dive into Authentication </a:t>
            </a:r>
            <a:r>
              <a:rPr lang="en">
                <a:solidFill>
                  <a:srgbClr val="858585"/>
                </a:solidFill>
              </a:rPr>
              <a:t>#Low Latency</a:t>
            </a:r>
            <a:endParaRPr>
              <a:solidFill>
                <a:srgbClr val="858585"/>
              </a:solidFill>
            </a:endParaRPr>
          </a:p>
        </p:txBody>
      </p:sp>
      <p:sp>
        <p:nvSpPr>
          <p:cNvPr id="544" name="Google Shape;544;p40"/>
          <p:cNvSpPr/>
          <p:nvPr/>
        </p:nvSpPr>
        <p:spPr>
          <a:xfrm>
            <a:off x="3501400" y="1903088"/>
            <a:ext cx="1452000" cy="62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45" name="Google Shape;5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125" y="1699595"/>
            <a:ext cx="431276" cy="4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088" y="1718889"/>
            <a:ext cx="392675" cy="3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1900" y="1855451"/>
            <a:ext cx="702725" cy="7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0"/>
          <p:cNvSpPr/>
          <p:nvPr/>
        </p:nvSpPr>
        <p:spPr>
          <a:xfrm>
            <a:off x="620625" y="1911543"/>
            <a:ext cx="1655100" cy="626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Token / Session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49" name="Google Shape;549;p40"/>
          <p:cNvCxnSpPr>
            <a:stCxn id="548" idx="3"/>
            <a:endCxn id="544" idx="1"/>
          </p:cNvCxnSpPr>
          <p:nvPr/>
        </p:nvCxnSpPr>
        <p:spPr>
          <a:xfrm flipH="1" rot="10800000">
            <a:off x="2275725" y="2216343"/>
            <a:ext cx="1225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40"/>
          <p:cNvCxnSpPr>
            <a:stCxn id="544" idx="3"/>
            <a:endCxn id="551" idx="1"/>
          </p:cNvCxnSpPr>
          <p:nvPr/>
        </p:nvCxnSpPr>
        <p:spPr>
          <a:xfrm>
            <a:off x="4953400" y="2216288"/>
            <a:ext cx="667800" cy="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51" name="Google Shape;55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284" y="1864229"/>
            <a:ext cx="702725" cy="7058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40"/>
          <p:cNvCxnSpPr>
            <a:stCxn id="551" idx="3"/>
            <a:endCxn id="547" idx="1"/>
          </p:cNvCxnSpPr>
          <p:nvPr/>
        </p:nvCxnSpPr>
        <p:spPr>
          <a:xfrm flipH="1" rot="10800000">
            <a:off x="6324009" y="2206961"/>
            <a:ext cx="667800" cy="102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Dive into Authentication </a:t>
            </a:r>
            <a:r>
              <a:rPr lang="en">
                <a:solidFill>
                  <a:srgbClr val="858585"/>
                </a:solidFill>
              </a:rPr>
              <a:t>#Distributed</a:t>
            </a:r>
            <a:endParaRPr>
              <a:solidFill>
                <a:srgbClr val="858585"/>
              </a:solidFill>
            </a:endParaRPr>
          </a:p>
        </p:txBody>
      </p:sp>
      <p:sp>
        <p:nvSpPr>
          <p:cNvPr id="558" name="Google Shape;558;p41"/>
          <p:cNvSpPr/>
          <p:nvPr/>
        </p:nvSpPr>
        <p:spPr>
          <a:xfrm>
            <a:off x="3501400" y="1903088"/>
            <a:ext cx="1452000" cy="62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59" name="Google Shape;5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125" y="1699595"/>
            <a:ext cx="431276" cy="4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088" y="1718889"/>
            <a:ext cx="392675" cy="3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1900" y="1855451"/>
            <a:ext cx="702725" cy="7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1"/>
          <p:cNvSpPr/>
          <p:nvPr/>
        </p:nvSpPr>
        <p:spPr>
          <a:xfrm>
            <a:off x="620625" y="1911543"/>
            <a:ext cx="1655100" cy="626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Token / Session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63" name="Google Shape;563;p41"/>
          <p:cNvCxnSpPr>
            <a:stCxn id="562" idx="3"/>
            <a:endCxn id="558" idx="1"/>
          </p:cNvCxnSpPr>
          <p:nvPr/>
        </p:nvCxnSpPr>
        <p:spPr>
          <a:xfrm flipH="1" rot="10800000">
            <a:off x="2275725" y="2216343"/>
            <a:ext cx="1225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41"/>
          <p:cNvCxnSpPr>
            <a:stCxn id="558" idx="3"/>
            <a:endCxn id="565" idx="1"/>
          </p:cNvCxnSpPr>
          <p:nvPr/>
        </p:nvCxnSpPr>
        <p:spPr>
          <a:xfrm>
            <a:off x="4953400" y="2216288"/>
            <a:ext cx="667800" cy="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65" name="Google Shape;565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284" y="1864229"/>
            <a:ext cx="702725" cy="7058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41"/>
          <p:cNvCxnSpPr>
            <a:stCxn id="565" idx="3"/>
            <a:endCxn id="561" idx="1"/>
          </p:cNvCxnSpPr>
          <p:nvPr/>
        </p:nvCxnSpPr>
        <p:spPr>
          <a:xfrm flipH="1" rot="10800000">
            <a:off x="6324009" y="2206961"/>
            <a:ext cx="667800" cy="102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7" name="Google Shape;567;p41"/>
          <p:cNvSpPr/>
          <p:nvPr/>
        </p:nvSpPr>
        <p:spPr>
          <a:xfrm>
            <a:off x="3501400" y="3505763"/>
            <a:ext cx="1452000" cy="62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8" name="Google Shape;5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125" y="3302270"/>
            <a:ext cx="431276" cy="4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088" y="3321564"/>
            <a:ext cx="392675" cy="3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41"/>
          <p:cNvSpPr/>
          <p:nvPr/>
        </p:nvSpPr>
        <p:spPr>
          <a:xfrm>
            <a:off x="620625" y="3514218"/>
            <a:ext cx="1655100" cy="626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Token / Session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71" name="Google Shape;571;p41"/>
          <p:cNvCxnSpPr>
            <a:stCxn id="570" idx="3"/>
            <a:endCxn id="567" idx="1"/>
          </p:cNvCxnSpPr>
          <p:nvPr/>
        </p:nvCxnSpPr>
        <p:spPr>
          <a:xfrm flipH="1" rot="10800000">
            <a:off x="2275725" y="3819018"/>
            <a:ext cx="1225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41"/>
          <p:cNvCxnSpPr>
            <a:stCxn id="567" idx="3"/>
            <a:endCxn id="565" idx="2"/>
          </p:cNvCxnSpPr>
          <p:nvPr/>
        </p:nvCxnSpPr>
        <p:spPr>
          <a:xfrm flipH="1" rot="10800000">
            <a:off x="4953400" y="2570063"/>
            <a:ext cx="1019100" cy="12489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3" name="Google Shape;573;p41"/>
          <p:cNvSpPr txBox="1"/>
          <p:nvPr/>
        </p:nvSpPr>
        <p:spPr>
          <a:xfrm>
            <a:off x="8208875" y="2009050"/>
            <a:ext cx="6678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4" name="Google Shape;574;p41"/>
          <p:cNvSpPr txBox="1"/>
          <p:nvPr/>
        </p:nvSpPr>
        <p:spPr>
          <a:xfrm>
            <a:off x="8219075" y="3607525"/>
            <a:ext cx="6474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UAE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Dive into Authentication </a:t>
            </a:r>
            <a:r>
              <a:rPr lang="en">
                <a:solidFill>
                  <a:srgbClr val="858585"/>
                </a:solidFill>
              </a:rPr>
              <a:t>#Distributed</a:t>
            </a:r>
            <a:endParaRPr>
              <a:solidFill>
                <a:srgbClr val="858585"/>
              </a:solidFill>
            </a:endParaRPr>
          </a:p>
        </p:txBody>
      </p:sp>
      <p:sp>
        <p:nvSpPr>
          <p:cNvPr id="580" name="Google Shape;580;p42"/>
          <p:cNvSpPr/>
          <p:nvPr/>
        </p:nvSpPr>
        <p:spPr>
          <a:xfrm>
            <a:off x="3501400" y="1903088"/>
            <a:ext cx="1452000" cy="62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1" name="Google Shape;58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125" y="1699595"/>
            <a:ext cx="431276" cy="4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088" y="1718889"/>
            <a:ext cx="392675" cy="3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2"/>
          <p:cNvSpPr/>
          <p:nvPr/>
        </p:nvSpPr>
        <p:spPr>
          <a:xfrm>
            <a:off x="620625" y="1911543"/>
            <a:ext cx="1655100" cy="626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JWT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84" name="Google Shape;584;p42"/>
          <p:cNvCxnSpPr>
            <a:stCxn id="583" idx="3"/>
            <a:endCxn id="580" idx="1"/>
          </p:cNvCxnSpPr>
          <p:nvPr/>
        </p:nvCxnSpPr>
        <p:spPr>
          <a:xfrm flipH="1" rot="10800000">
            <a:off x="2275725" y="2216343"/>
            <a:ext cx="1225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5" name="Google Shape;585;p42"/>
          <p:cNvSpPr/>
          <p:nvPr/>
        </p:nvSpPr>
        <p:spPr>
          <a:xfrm>
            <a:off x="3501400" y="3505763"/>
            <a:ext cx="1452000" cy="62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6" name="Google Shape;58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125" y="3302270"/>
            <a:ext cx="431276" cy="4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088" y="3321564"/>
            <a:ext cx="392675" cy="3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/>
          <p:nvPr/>
        </p:nvSpPr>
        <p:spPr>
          <a:xfrm>
            <a:off x="620625" y="3514218"/>
            <a:ext cx="1655100" cy="626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JWT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89" name="Google Shape;589;p42"/>
          <p:cNvCxnSpPr>
            <a:stCxn id="588" idx="3"/>
            <a:endCxn id="585" idx="1"/>
          </p:cNvCxnSpPr>
          <p:nvPr/>
        </p:nvCxnSpPr>
        <p:spPr>
          <a:xfrm flipH="1" rot="10800000">
            <a:off x="2275725" y="3819018"/>
            <a:ext cx="1225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0" name="Google Shape;590;p42"/>
          <p:cNvSpPr txBox="1"/>
          <p:nvPr/>
        </p:nvSpPr>
        <p:spPr>
          <a:xfrm>
            <a:off x="8208875" y="2009050"/>
            <a:ext cx="6678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1" name="Google Shape;591;p42"/>
          <p:cNvSpPr txBox="1"/>
          <p:nvPr/>
        </p:nvSpPr>
        <p:spPr>
          <a:xfrm>
            <a:off x="8219075" y="3607525"/>
            <a:ext cx="6474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UAE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2" name="Google Shape;592;p42"/>
          <p:cNvSpPr/>
          <p:nvPr/>
        </p:nvSpPr>
        <p:spPr>
          <a:xfrm>
            <a:off x="4799575" y="2385038"/>
            <a:ext cx="2120400" cy="3414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Shared Secret Key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3" name="Google Shape;593;p42"/>
          <p:cNvSpPr/>
          <p:nvPr/>
        </p:nvSpPr>
        <p:spPr>
          <a:xfrm>
            <a:off x="4799575" y="3964250"/>
            <a:ext cx="2120400" cy="3414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Shared Secret Key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JWT enough for authentication and authorization?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JWT</a:t>
            </a:r>
            <a:endParaRPr/>
          </a:p>
        </p:txBody>
      </p:sp>
      <p:sp>
        <p:nvSpPr>
          <p:cNvPr id="604" name="Google Shape;604;p44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sent via ‘Authentication’ Header or as Cookie (which is also a HTTP Header)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Authentication Header Typical Limit is -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/>
              <a:t>8kB</a:t>
            </a:r>
            <a:endParaRPr sz="2500"/>
          </a:p>
        </p:txBody>
      </p:sp>
      <p:sp>
        <p:nvSpPr>
          <p:cNvPr id="605" name="Google Shape;605;p44"/>
          <p:cNvSpPr txBox="1"/>
          <p:nvPr/>
        </p:nvSpPr>
        <p:spPr>
          <a:xfrm>
            <a:off x="4261675" y="920600"/>
            <a:ext cx="4282500" cy="18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“userId”: “....”,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“organizationId”: “....”,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“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ole”: “member”,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“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ermissions”: </a:t>
            </a:r>
            <a:r>
              <a:rPr lang="en" sz="18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???</a:t>
            </a:r>
            <a:endParaRPr sz="18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06" name="Google Shape;606;p44"/>
          <p:cNvSpPr txBox="1"/>
          <p:nvPr/>
        </p:nvSpPr>
        <p:spPr>
          <a:xfrm>
            <a:off x="817200" y="4031900"/>
            <a:ext cx="75096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Accounting.ManualJournal = [“Create”, “Draft”, “Read”, “Edit”, “Approve”]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Calculation - Permission</a:t>
            </a:r>
            <a:endParaRPr/>
          </a:p>
        </p:txBody>
      </p:sp>
      <p:sp>
        <p:nvSpPr>
          <p:cNvPr id="612" name="Google Shape;612;p4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about </a:t>
            </a:r>
            <a:r>
              <a:rPr b="1" lang="en"/>
              <a:t>500 permissions</a:t>
            </a:r>
            <a:r>
              <a:rPr lang="en"/>
              <a:t> in current PrideERP, considering each permission can have </a:t>
            </a:r>
            <a:r>
              <a:rPr b="1" lang="en"/>
              <a:t>8 true/false</a:t>
            </a:r>
            <a:r>
              <a:rPr lang="en"/>
              <a:t> values, we need -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500 * 8 bits = 500 Bytes binary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JSON cannot have binary data, we </a:t>
            </a:r>
            <a:r>
              <a:rPr lang="en"/>
              <a:t>encode</a:t>
            </a:r>
            <a:r>
              <a:rPr lang="en"/>
              <a:t> the binary data as </a:t>
            </a:r>
            <a:r>
              <a:rPr b="1" lang="en"/>
              <a:t>base64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500 Bytes * </a:t>
            </a:r>
            <a:r>
              <a:rPr lang="en">
                <a:solidFill>
                  <a:srgbClr val="E06666"/>
                </a:solidFill>
              </a:rPr>
              <a:t>133%</a:t>
            </a:r>
            <a:r>
              <a:rPr lang="en"/>
              <a:t> = 665 Bytes (base64 encoding needs 33% more space)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JWT keeps JSON Payload as base64, so finally space needed in header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665</a:t>
            </a:r>
            <a:r>
              <a:rPr lang="en"/>
              <a:t> Bytes * </a:t>
            </a:r>
            <a:r>
              <a:rPr lang="en">
                <a:solidFill>
                  <a:srgbClr val="E06666"/>
                </a:solidFill>
              </a:rPr>
              <a:t>133%</a:t>
            </a:r>
            <a:r>
              <a:rPr lang="en"/>
              <a:t> = </a:t>
            </a:r>
            <a:r>
              <a:rPr b="1" lang="en"/>
              <a:t>885 Bytes</a:t>
            </a:r>
            <a:r>
              <a:rPr lang="en"/>
              <a:t> (which can be fitted to 8kB header)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Service - Golang</a:t>
            </a:r>
            <a:endParaRPr/>
          </a:p>
        </p:txBody>
      </p:sp>
      <p:sp>
        <p:nvSpPr>
          <p:cNvPr id="618" name="Google Shape;618;p46"/>
          <p:cNvSpPr txBox="1"/>
          <p:nvPr>
            <p:ph idx="1" type="body"/>
          </p:nvPr>
        </p:nvSpPr>
        <p:spPr>
          <a:xfrm>
            <a:off x="311700" y="1225225"/>
            <a:ext cx="341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Service uploads file to Azure Blob Storage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 (Gin) outperforms </a:t>
            </a:r>
            <a:r>
              <a:rPr b="1" lang="en" sz="2600">
                <a:solidFill>
                  <a:srgbClr val="FF0000"/>
                </a:solidFill>
              </a:rPr>
              <a:t>2.5x</a:t>
            </a:r>
            <a:r>
              <a:rPr lang="en"/>
              <a:t> than Spring Boot due to its better concurrency </a:t>
            </a:r>
            <a:r>
              <a:rPr lang="en"/>
              <a:t>support.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RPS - Request per Second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[Experiment Link]</a:t>
            </a:r>
            <a:endParaRPr/>
          </a:p>
        </p:txBody>
      </p:sp>
      <p:pic>
        <p:nvPicPr>
          <p:cNvPr id="619" name="Google Shape;619;p46"/>
          <p:cNvPicPr preferRelativeResize="0"/>
          <p:nvPr/>
        </p:nvPicPr>
        <p:blipFill rotWithShape="1">
          <a:blip r:embed="rId4">
            <a:alphaModFix/>
          </a:blip>
          <a:srcRect b="4021" l="0" r="0" t="0"/>
          <a:stretch/>
        </p:blipFill>
        <p:spPr>
          <a:xfrm>
            <a:off x="4176275" y="192850"/>
            <a:ext cx="4813125" cy="47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</a:t>
            </a:r>
            <a:endParaRPr/>
          </a:p>
        </p:txBody>
      </p:sp>
      <p:sp>
        <p:nvSpPr>
          <p:cNvPr id="625" name="Google Shape;625;p4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 Hosted solution, why cloud?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Kubernetes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Infrastructure description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Managing infrastructure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over </a:t>
            </a:r>
            <a:r>
              <a:rPr lang="en"/>
              <a:t>On Premise</a:t>
            </a:r>
            <a:endParaRPr/>
          </a:p>
        </p:txBody>
      </p:sp>
      <p:sp>
        <p:nvSpPr>
          <p:cNvPr id="631" name="Google Shape;631;p48"/>
          <p:cNvSpPr txBox="1"/>
          <p:nvPr>
            <p:ph idx="1" type="body"/>
          </p:nvPr>
        </p:nvSpPr>
        <p:spPr>
          <a:xfrm>
            <a:off x="2879950" y="1996625"/>
            <a:ext cx="5430300" cy="27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Customer Base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Scalability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Cost Efficiency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2" name="Google Shape;63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350" y="2018400"/>
            <a:ext cx="457199" cy="45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350" y="25574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0350" y="3118175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9"/>
          <p:cNvSpPr/>
          <p:nvPr/>
        </p:nvSpPr>
        <p:spPr>
          <a:xfrm>
            <a:off x="4768550" y="1600500"/>
            <a:ext cx="1903200" cy="3269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Ingress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0" name="Google Shape;640;p49"/>
          <p:cNvSpPr/>
          <p:nvPr/>
        </p:nvSpPr>
        <p:spPr>
          <a:xfrm>
            <a:off x="4768550" y="2157250"/>
            <a:ext cx="1903200" cy="2712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1" name="Google Shape;641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</a:t>
            </a:r>
            <a:endParaRPr/>
          </a:p>
        </p:txBody>
      </p:sp>
      <p:sp>
        <p:nvSpPr>
          <p:cNvPr id="642" name="Google Shape;642;p49"/>
          <p:cNvSpPr txBox="1"/>
          <p:nvPr>
            <p:ph idx="1" type="body"/>
          </p:nvPr>
        </p:nvSpPr>
        <p:spPr>
          <a:xfrm>
            <a:off x="227575" y="1399400"/>
            <a:ext cx="4396200" cy="4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/>
              <a:t>Orchestration</a:t>
            </a:r>
            <a:r>
              <a:rPr b="1" lang="en" sz="1500"/>
              <a:t> tool for </a:t>
            </a:r>
            <a:r>
              <a:rPr b="1" lang="en" sz="1500">
                <a:solidFill>
                  <a:srgbClr val="4A86E8"/>
                </a:solidFill>
              </a:rPr>
              <a:t>container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643" name="Google Shape;643;p49"/>
          <p:cNvSpPr/>
          <p:nvPr/>
        </p:nvSpPr>
        <p:spPr>
          <a:xfrm>
            <a:off x="4768550" y="2668725"/>
            <a:ext cx="1903200" cy="2203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Deployment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4" name="Google Shape;644;p49"/>
          <p:cNvSpPr/>
          <p:nvPr/>
        </p:nvSpPr>
        <p:spPr>
          <a:xfrm>
            <a:off x="4768550" y="3237650"/>
            <a:ext cx="1903200" cy="1634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Replica Set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5" name="Google Shape;645;p49"/>
          <p:cNvSpPr/>
          <p:nvPr/>
        </p:nvSpPr>
        <p:spPr>
          <a:xfrm>
            <a:off x="4768550" y="3796200"/>
            <a:ext cx="941100" cy="1076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Pod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6" name="Google Shape;646;p49"/>
          <p:cNvSpPr/>
          <p:nvPr/>
        </p:nvSpPr>
        <p:spPr>
          <a:xfrm>
            <a:off x="4768550" y="4313400"/>
            <a:ext cx="941100" cy="556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Container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7" name="Google Shape;647;p49"/>
          <p:cNvSpPr/>
          <p:nvPr/>
        </p:nvSpPr>
        <p:spPr>
          <a:xfrm>
            <a:off x="5730525" y="3796200"/>
            <a:ext cx="941100" cy="1076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Pod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8" name="Google Shape;648;p49"/>
          <p:cNvSpPr/>
          <p:nvPr/>
        </p:nvSpPr>
        <p:spPr>
          <a:xfrm>
            <a:off x="5730525" y="4313400"/>
            <a:ext cx="941100" cy="556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Container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9" name="Google Shape;649;p49"/>
          <p:cNvSpPr/>
          <p:nvPr/>
        </p:nvSpPr>
        <p:spPr>
          <a:xfrm>
            <a:off x="4768550" y="693050"/>
            <a:ext cx="4062300" cy="6621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NGINX</a:t>
            </a:r>
            <a:r>
              <a:rPr lang="en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Gateway / Reverse Proxy</a:t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0" name="Google Shape;650;p49"/>
          <p:cNvSpPr/>
          <p:nvPr/>
        </p:nvSpPr>
        <p:spPr>
          <a:xfrm>
            <a:off x="6927675" y="1599338"/>
            <a:ext cx="1903200" cy="3269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Ingress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1" name="Google Shape;651;p49"/>
          <p:cNvSpPr/>
          <p:nvPr/>
        </p:nvSpPr>
        <p:spPr>
          <a:xfrm>
            <a:off x="6927675" y="2156088"/>
            <a:ext cx="1903200" cy="2712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2" name="Google Shape;652;p49"/>
          <p:cNvSpPr/>
          <p:nvPr/>
        </p:nvSpPr>
        <p:spPr>
          <a:xfrm>
            <a:off x="6927675" y="2667563"/>
            <a:ext cx="1903200" cy="2203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Deployment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3" name="Google Shape;653;p49"/>
          <p:cNvSpPr/>
          <p:nvPr/>
        </p:nvSpPr>
        <p:spPr>
          <a:xfrm>
            <a:off x="6927675" y="3236488"/>
            <a:ext cx="1903200" cy="1634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Replica Set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4" name="Google Shape;654;p49"/>
          <p:cNvSpPr/>
          <p:nvPr/>
        </p:nvSpPr>
        <p:spPr>
          <a:xfrm>
            <a:off x="6927675" y="3795038"/>
            <a:ext cx="941100" cy="1076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Pod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5" name="Google Shape;655;p49"/>
          <p:cNvSpPr/>
          <p:nvPr/>
        </p:nvSpPr>
        <p:spPr>
          <a:xfrm>
            <a:off x="6927675" y="4312238"/>
            <a:ext cx="941100" cy="556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Container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6" name="Google Shape;656;p49"/>
          <p:cNvSpPr/>
          <p:nvPr/>
        </p:nvSpPr>
        <p:spPr>
          <a:xfrm>
            <a:off x="7889650" y="3795038"/>
            <a:ext cx="941100" cy="1076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Pod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7" name="Google Shape;657;p49"/>
          <p:cNvSpPr/>
          <p:nvPr/>
        </p:nvSpPr>
        <p:spPr>
          <a:xfrm>
            <a:off x="7889650" y="4312238"/>
            <a:ext cx="941100" cy="556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Container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8" name="Google Shape;658;p49"/>
          <p:cNvSpPr txBox="1"/>
          <p:nvPr/>
        </p:nvSpPr>
        <p:spPr>
          <a:xfrm>
            <a:off x="227575" y="4458254"/>
            <a:ext cx="376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74E13"/>
                </a:solidFill>
                <a:latin typeface="Open Sans"/>
                <a:ea typeface="Open Sans"/>
                <a:cs typeface="Open Sans"/>
                <a:sym typeface="Open Sans"/>
              </a:rPr>
              <a:t>Ingress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⇾ </a:t>
            </a:r>
            <a:r>
              <a:rPr lang="en" sz="12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Ingress Controller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[NGINX Gateway]</a:t>
            </a:r>
            <a:endParaRPr/>
          </a:p>
        </p:txBody>
      </p:sp>
      <p:sp>
        <p:nvSpPr>
          <p:cNvPr id="659" name="Google Shape;659;p49"/>
          <p:cNvSpPr txBox="1"/>
          <p:nvPr/>
        </p:nvSpPr>
        <p:spPr>
          <a:xfrm>
            <a:off x="227575" y="3959956"/>
            <a:ext cx="400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⇾ </a:t>
            </a:r>
            <a:r>
              <a:rPr lang="en" sz="1200">
                <a:solidFill>
                  <a:srgbClr val="274E13"/>
                </a:solidFill>
                <a:latin typeface="Open Sans"/>
                <a:ea typeface="Open Sans"/>
                <a:cs typeface="Open Sans"/>
                <a:sym typeface="Open Sans"/>
              </a:rPr>
              <a:t>Ingress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[Routing + TLS/SSL]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0" name="Google Shape;660;p49"/>
          <p:cNvSpPr txBox="1"/>
          <p:nvPr/>
        </p:nvSpPr>
        <p:spPr>
          <a:xfrm>
            <a:off x="227575" y="3461659"/>
            <a:ext cx="36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Deployment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⇾ </a:t>
            </a:r>
            <a:r>
              <a:rPr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[Service Discovery]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1" name="Google Shape;661;p49"/>
          <p:cNvSpPr txBox="1"/>
          <p:nvPr/>
        </p:nvSpPr>
        <p:spPr>
          <a:xfrm>
            <a:off x="227575" y="2963362"/>
            <a:ext cx="439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ReplicaSet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⇾ </a:t>
            </a:r>
            <a:r>
              <a:rPr lang="en" sz="12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Deployment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[Load Balancer + Vertical Scaling]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227575" y="2465075"/>
            <a:ext cx="423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Pod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⇾ </a:t>
            </a:r>
            <a:r>
              <a:rPr lang="en" sz="120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ReplicaSet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[Horizontal Scaling + Fault Tolerant]</a:t>
            </a:r>
            <a:endParaRPr/>
          </a:p>
        </p:txBody>
      </p:sp>
      <p:sp>
        <p:nvSpPr>
          <p:cNvPr id="663" name="Google Shape;663;p49"/>
          <p:cNvSpPr txBox="1"/>
          <p:nvPr/>
        </p:nvSpPr>
        <p:spPr>
          <a:xfrm>
            <a:off x="227575" y="1966767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Container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⇾ </a:t>
            </a:r>
            <a:r>
              <a:rPr lang="en" sz="1200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Pod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[Instance]</a:t>
            </a:r>
            <a:endParaRPr/>
          </a:p>
        </p:txBody>
      </p:sp>
      <p:cxnSp>
        <p:nvCxnSpPr>
          <p:cNvPr id="664" name="Google Shape;664;p49"/>
          <p:cNvCxnSpPr>
            <a:stCxn id="649" idx="2"/>
            <a:endCxn id="639" idx="0"/>
          </p:cNvCxnSpPr>
          <p:nvPr/>
        </p:nvCxnSpPr>
        <p:spPr>
          <a:xfrm flipH="1">
            <a:off x="5720300" y="1355150"/>
            <a:ext cx="1079400" cy="24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5" name="Google Shape;665;p49"/>
          <p:cNvCxnSpPr>
            <a:stCxn id="649" idx="2"/>
            <a:endCxn id="650" idx="0"/>
          </p:cNvCxnSpPr>
          <p:nvPr/>
        </p:nvCxnSpPr>
        <p:spPr>
          <a:xfrm>
            <a:off x="6799700" y="1355150"/>
            <a:ext cx="1079700" cy="24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 without Kubernetes</a:t>
            </a:r>
            <a:endParaRPr/>
          </a:p>
        </p:txBody>
      </p:sp>
      <p:pic>
        <p:nvPicPr>
          <p:cNvPr id="671" name="Google Shape;67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199" cy="3567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51"/>
          <p:cNvPicPr preferRelativeResize="0"/>
          <p:nvPr/>
        </p:nvPicPr>
        <p:blipFill rotWithShape="1">
          <a:blip r:embed="rId3">
            <a:alphaModFix/>
          </a:blip>
          <a:srcRect b="0" l="0" r="0" t="7638"/>
          <a:stretch/>
        </p:blipFill>
        <p:spPr>
          <a:xfrm>
            <a:off x="530361" y="0"/>
            <a:ext cx="808328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</a:t>
            </a:r>
            <a:endParaRPr/>
          </a:p>
        </p:txBody>
      </p:sp>
      <p:sp>
        <p:nvSpPr>
          <p:cNvPr id="682" name="Google Shape;682;p5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Provision, State management, Version controlling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3"/>
          <p:cNvSpPr txBox="1"/>
          <p:nvPr>
            <p:ph type="title"/>
          </p:nvPr>
        </p:nvSpPr>
        <p:spPr>
          <a:xfrm>
            <a:off x="311700" y="153325"/>
            <a:ext cx="8520600" cy="55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"/>
              <a:t>Infrastructure</a:t>
            </a:r>
            <a:endParaRPr sz="3500"/>
          </a:p>
        </p:txBody>
      </p:sp>
      <p:pic>
        <p:nvPicPr>
          <p:cNvPr id="688" name="Google Shape;68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1925"/>
            <a:ext cx="7172644" cy="4129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300" y="1950975"/>
            <a:ext cx="2041700" cy="276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2775" y="1522850"/>
            <a:ext cx="2493576" cy="3239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14925" y="2288625"/>
            <a:ext cx="2767399" cy="25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77075" y="907725"/>
            <a:ext cx="4047452" cy="8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98775" y="812665"/>
            <a:ext cx="1975024" cy="1759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84825" y="2742938"/>
            <a:ext cx="2410450" cy="220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61275" y="573650"/>
            <a:ext cx="1597950" cy="33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5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85175" y="153325"/>
            <a:ext cx="1388625" cy="102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</a:t>
            </a:r>
            <a:r>
              <a:rPr lang="en"/>
              <a:t> as Code (IaC)</a:t>
            </a:r>
            <a:endParaRPr/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100" y="1337625"/>
            <a:ext cx="1221400" cy="147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3700" y="1083555"/>
            <a:ext cx="3036626" cy="171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9100" y="2437025"/>
            <a:ext cx="1617250" cy="25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2125" y="1133725"/>
            <a:ext cx="3219525" cy="20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7050" y="2569700"/>
            <a:ext cx="5610224" cy="213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050" y="1021875"/>
            <a:ext cx="3400451" cy="17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3325" y="1251275"/>
            <a:ext cx="3228975" cy="1132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3" name="Google Shape;713;p55"/>
          <p:cNvCxnSpPr/>
          <p:nvPr/>
        </p:nvCxnSpPr>
        <p:spPr>
          <a:xfrm>
            <a:off x="3972601" y="1812700"/>
            <a:ext cx="1547700" cy="9600"/>
          </a:xfrm>
          <a:prstGeom prst="straightConnector1">
            <a:avLst/>
          </a:prstGeom>
          <a:noFill/>
          <a:ln cap="flat" cmpd="sng" w="76200">
            <a:solidFill>
              <a:srgbClr val="C2C2C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4" name="Google Shape;714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IaC Tool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6"/>
          <p:cNvSpPr txBox="1"/>
          <p:nvPr>
            <p:ph type="title"/>
          </p:nvPr>
        </p:nvSpPr>
        <p:spPr>
          <a:xfrm>
            <a:off x="311700" y="351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Provisioning</a:t>
            </a:r>
            <a:endParaRPr/>
          </a:p>
        </p:txBody>
      </p:sp>
      <p:pic>
        <p:nvPicPr>
          <p:cNvPr id="720" name="Google Shape;72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8825"/>
            <a:ext cx="8839204" cy="297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7"/>
          <p:cNvSpPr txBox="1"/>
          <p:nvPr>
            <p:ph type="title"/>
          </p:nvPr>
        </p:nvSpPr>
        <p:spPr>
          <a:xfrm>
            <a:off x="311700" y="351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Infrastructure in Azure</a:t>
            </a:r>
            <a:endParaRPr/>
          </a:p>
        </p:txBody>
      </p:sp>
      <p:pic>
        <p:nvPicPr>
          <p:cNvPr id="726" name="Google Shape;72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400" y="782350"/>
            <a:ext cx="7406448" cy="39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8"/>
          <p:cNvSpPr txBox="1"/>
          <p:nvPr>
            <p:ph type="title"/>
          </p:nvPr>
        </p:nvSpPr>
        <p:spPr>
          <a:xfrm>
            <a:off x="311700" y="351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State Management</a:t>
            </a:r>
            <a:endParaRPr/>
          </a:p>
        </p:txBody>
      </p:sp>
      <p:pic>
        <p:nvPicPr>
          <p:cNvPr id="732" name="Google Shape;73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8825"/>
            <a:ext cx="8839201" cy="3180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Service Development (Spring Boot)</a:t>
            </a:r>
            <a:endParaRPr sz="3500"/>
          </a:p>
        </p:txBody>
      </p:sp>
      <p:pic>
        <p:nvPicPr>
          <p:cNvPr id="738" name="Google Shape;73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088" y="1414450"/>
            <a:ext cx="7935824" cy="29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Service Development (Spring Boot)</a:t>
            </a:r>
            <a:endParaRPr sz="3500"/>
          </a:p>
        </p:txBody>
      </p:sp>
      <p:grpSp>
        <p:nvGrpSpPr>
          <p:cNvPr id="744" name="Google Shape;744;p60"/>
          <p:cNvGrpSpPr/>
          <p:nvPr/>
        </p:nvGrpSpPr>
        <p:grpSpPr>
          <a:xfrm>
            <a:off x="833638" y="1574075"/>
            <a:ext cx="482700" cy="1145300"/>
            <a:chOff x="943700" y="1999100"/>
            <a:chExt cx="482700" cy="1145300"/>
          </a:xfrm>
        </p:grpSpPr>
        <p:sp>
          <p:nvSpPr>
            <p:cNvPr id="745" name="Google Shape;745;p60"/>
            <p:cNvSpPr/>
            <p:nvPr/>
          </p:nvSpPr>
          <p:spPr>
            <a:xfrm>
              <a:off x="1030150" y="1999100"/>
              <a:ext cx="273600" cy="273600"/>
            </a:xfrm>
            <a:prstGeom prst="flowChartConnector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746" name="Google Shape;746;p60"/>
            <p:cNvCxnSpPr>
              <a:stCxn id="745" idx="4"/>
            </p:cNvCxnSpPr>
            <p:nvPr/>
          </p:nvCxnSpPr>
          <p:spPr>
            <a:xfrm flipH="1">
              <a:off x="1152550" y="2272700"/>
              <a:ext cx="14400" cy="627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7" name="Google Shape;747;p60"/>
            <p:cNvCxnSpPr/>
            <p:nvPr/>
          </p:nvCxnSpPr>
          <p:spPr>
            <a:xfrm>
              <a:off x="1159825" y="2899600"/>
              <a:ext cx="194400" cy="24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p60"/>
            <p:cNvCxnSpPr/>
            <p:nvPr/>
          </p:nvCxnSpPr>
          <p:spPr>
            <a:xfrm flipH="1">
              <a:off x="958225" y="2899600"/>
              <a:ext cx="194400" cy="230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60"/>
            <p:cNvCxnSpPr/>
            <p:nvPr/>
          </p:nvCxnSpPr>
          <p:spPr>
            <a:xfrm>
              <a:off x="943700" y="2406075"/>
              <a:ext cx="482700" cy="3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50" name="Google Shape;750;p60"/>
          <p:cNvSpPr/>
          <p:nvPr/>
        </p:nvSpPr>
        <p:spPr>
          <a:xfrm>
            <a:off x="2223988" y="1642188"/>
            <a:ext cx="749100" cy="9039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"/>
                <a:ea typeface="Open Sans"/>
                <a:cs typeface="Open Sans"/>
                <a:sym typeface="Open Sans"/>
              </a:rPr>
              <a:t>Filter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51" name="Google Shape;751;p60"/>
          <p:cNvCxnSpPr>
            <a:endCxn id="750" idx="1"/>
          </p:cNvCxnSpPr>
          <p:nvPr/>
        </p:nvCxnSpPr>
        <p:spPr>
          <a:xfrm flipH="1" rot="10800000">
            <a:off x="1301788" y="2094138"/>
            <a:ext cx="9222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2" name="Google Shape;752;p60"/>
          <p:cNvSpPr txBox="1"/>
          <p:nvPr/>
        </p:nvSpPr>
        <p:spPr>
          <a:xfrm>
            <a:off x="1337863" y="1829775"/>
            <a:ext cx="86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Http request</a:t>
            </a:r>
            <a:endParaRPr sz="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3" name="Google Shape;753;p60"/>
          <p:cNvSpPr/>
          <p:nvPr/>
        </p:nvSpPr>
        <p:spPr>
          <a:xfrm>
            <a:off x="3734788" y="1642188"/>
            <a:ext cx="985800" cy="9039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"/>
                <a:ea typeface="Open Sans"/>
                <a:cs typeface="Open Sans"/>
                <a:sym typeface="Open Sans"/>
              </a:rPr>
              <a:t>Controller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4" name="Google Shape;754;p60"/>
          <p:cNvSpPr/>
          <p:nvPr/>
        </p:nvSpPr>
        <p:spPr>
          <a:xfrm>
            <a:off x="5687388" y="1642188"/>
            <a:ext cx="985800" cy="903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5" name="Google Shape;755;p60"/>
          <p:cNvSpPr/>
          <p:nvPr/>
        </p:nvSpPr>
        <p:spPr>
          <a:xfrm>
            <a:off x="7384438" y="1643288"/>
            <a:ext cx="985800" cy="903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"/>
                <a:ea typeface="Open Sans"/>
                <a:cs typeface="Open Sans"/>
                <a:sym typeface="Open Sans"/>
              </a:rPr>
              <a:t>Repository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6" name="Google Shape;756;p60"/>
          <p:cNvSpPr/>
          <p:nvPr/>
        </p:nvSpPr>
        <p:spPr>
          <a:xfrm>
            <a:off x="5747998" y="3234500"/>
            <a:ext cx="864600" cy="629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DTO Mapper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57" name="Google Shape;757;p60"/>
          <p:cNvCxnSpPr/>
          <p:nvPr/>
        </p:nvCxnSpPr>
        <p:spPr>
          <a:xfrm>
            <a:off x="2973088" y="2017938"/>
            <a:ext cx="76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8" name="Google Shape;758;p60"/>
          <p:cNvCxnSpPr/>
          <p:nvPr/>
        </p:nvCxnSpPr>
        <p:spPr>
          <a:xfrm>
            <a:off x="4720588" y="2017938"/>
            <a:ext cx="96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9" name="Google Shape;759;p60"/>
          <p:cNvCxnSpPr/>
          <p:nvPr/>
        </p:nvCxnSpPr>
        <p:spPr>
          <a:xfrm>
            <a:off x="6673188" y="2017938"/>
            <a:ext cx="7113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0" name="Google Shape;760;p60"/>
          <p:cNvSpPr/>
          <p:nvPr/>
        </p:nvSpPr>
        <p:spPr>
          <a:xfrm>
            <a:off x="3061438" y="1828275"/>
            <a:ext cx="585000" cy="158400"/>
          </a:xfrm>
          <a:prstGeom prst="roundRect">
            <a:avLst>
              <a:gd fmla="val 16667" name="adj"/>
            </a:avLst>
          </a:prstGeom>
          <a:solidFill>
            <a:srgbClr val="FEC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Open Sans"/>
                <a:ea typeface="Open Sans"/>
                <a:cs typeface="Open Sans"/>
                <a:sym typeface="Open Sans"/>
              </a:rPr>
              <a:t>DTO</a:t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1" name="Google Shape;761;p60"/>
          <p:cNvSpPr/>
          <p:nvPr/>
        </p:nvSpPr>
        <p:spPr>
          <a:xfrm>
            <a:off x="4850263" y="1828275"/>
            <a:ext cx="585000" cy="158400"/>
          </a:xfrm>
          <a:prstGeom prst="roundRect">
            <a:avLst>
              <a:gd fmla="val 16667" name="adj"/>
            </a:avLst>
          </a:prstGeom>
          <a:solidFill>
            <a:srgbClr val="FEC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Open Sans"/>
                <a:ea typeface="Open Sans"/>
                <a:cs typeface="Open Sans"/>
                <a:sym typeface="Open Sans"/>
              </a:rPr>
              <a:t>DTO</a:t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2" name="Google Shape;762;p60"/>
          <p:cNvSpPr/>
          <p:nvPr/>
        </p:nvSpPr>
        <p:spPr>
          <a:xfrm>
            <a:off x="6372238" y="2762848"/>
            <a:ext cx="534600" cy="158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Open Sans"/>
                <a:ea typeface="Open Sans"/>
                <a:cs typeface="Open Sans"/>
                <a:sym typeface="Open Sans"/>
              </a:rPr>
              <a:t>Model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63" name="Google Shape;763;p60"/>
          <p:cNvCxnSpPr/>
          <p:nvPr/>
        </p:nvCxnSpPr>
        <p:spPr>
          <a:xfrm>
            <a:off x="6043413" y="2556788"/>
            <a:ext cx="0" cy="67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4" name="Google Shape;764;p60"/>
          <p:cNvSpPr/>
          <p:nvPr/>
        </p:nvSpPr>
        <p:spPr>
          <a:xfrm>
            <a:off x="5406063" y="2762850"/>
            <a:ext cx="585000" cy="158400"/>
          </a:xfrm>
          <a:prstGeom prst="roundRect">
            <a:avLst>
              <a:gd fmla="val 16667" name="adj"/>
            </a:avLst>
          </a:prstGeom>
          <a:solidFill>
            <a:srgbClr val="FEC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Open Sans"/>
                <a:ea typeface="Open Sans"/>
                <a:cs typeface="Open Sans"/>
                <a:sym typeface="Open Sans"/>
              </a:rPr>
              <a:t>DTO</a:t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5" name="Google Shape;765;p60"/>
          <p:cNvSpPr/>
          <p:nvPr/>
        </p:nvSpPr>
        <p:spPr>
          <a:xfrm>
            <a:off x="6732688" y="1828273"/>
            <a:ext cx="534600" cy="158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Open Sans"/>
                <a:ea typeface="Open Sans"/>
                <a:cs typeface="Open Sans"/>
                <a:sym typeface="Open Sans"/>
              </a:rPr>
              <a:t>Model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66" name="Google Shape;766;p60"/>
          <p:cNvCxnSpPr/>
          <p:nvPr/>
        </p:nvCxnSpPr>
        <p:spPr>
          <a:xfrm rot="10800000">
            <a:off x="6315713" y="2557400"/>
            <a:ext cx="0" cy="67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7" name="Google Shape;767;p60"/>
          <p:cNvCxnSpPr/>
          <p:nvPr/>
        </p:nvCxnSpPr>
        <p:spPr>
          <a:xfrm rot="10800000">
            <a:off x="6675988" y="2138400"/>
            <a:ext cx="70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8" name="Google Shape;768;p60"/>
          <p:cNvCxnSpPr/>
          <p:nvPr/>
        </p:nvCxnSpPr>
        <p:spPr>
          <a:xfrm flipH="1">
            <a:off x="4720588" y="2164175"/>
            <a:ext cx="961200" cy="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9" name="Google Shape;769;p60"/>
          <p:cNvCxnSpPr/>
          <p:nvPr/>
        </p:nvCxnSpPr>
        <p:spPr>
          <a:xfrm flipH="1">
            <a:off x="2980463" y="2185800"/>
            <a:ext cx="770700" cy="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0" name="Google Shape;770;p60"/>
          <p:cNvCxnSpPr/>
          <p:nvPr/>
        </p:nvCxnSpPr>
        <p:spPr>
          <a:xfrm rot="10800000">
            <a:off x="1265788" y="2225950"/>
            <a:ext cx="958200" cy="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1" name="Google Shape;771;p60"/>
          <p:cNvSpPr txBox="1"/>
          <p:nvPr/>
        </p:nvSpPr>
        <p:spPr>
          <a:xfrm>
            <a:off x="1287488" y="2149750"/>
            <a:ext cx="95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Http response</a:t>
            </a:r>
            <a:endParaRPr sz="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2" name="Google Shape;772;p60"/>
          <p:cNvSpPr txBox="1"/>
          <p:nvPr/>
        </p:nvSpPr>
        <p:spPr>
          <a:xfrm>
            <a:off x="773763" y="2675325"/>
            <a:ext cx="53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73" name="Google Shape;77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6776" y="3234500"/>
            <a:ext cx="1078418" cy="67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4" name="Google Shape;774;p60"/>
          <p:cNvCxnSpPr/>
          <p:nvPr/>
        </p:nvCxnSpPr>
        <p:spPr>
          <a:xfrm>
            <a:off x="7708588" y="2556788"/>
            <a:ext cx="0" cy="67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5" name="Google Shape;775;p60"/>
          <p:cNvCxnSpPr/>
          <p:nvPr/>
        </p:nvCxnSpPr>
        <p:spPr>
          <a:xfrm rot="10800000">
            <a:off x="7980888" y="2557400"/>
            <a:ext cx="0" cy="67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6" name="Google Shape;776;p60"/>
          <p:cNvSpPr/>
          <p:nvPr/>
        </p:nvSpPr>
        <p:spPr>
          <a:xfrm>
            <a:off x="2929875" y="3041075"/>
            <a:ext cx="1176000" cy="6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"/>
                <a:ea typeface="Open Sans"/>
                <a:cs typeface="Open Sans"/>
                <a:sym typeface="Open Sans"/>
              </a:rPr>
              <a:t>Global Exception Handler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7" name="Google Shape;777;p60"/>
          <p:cNvSpPr/>
          <p:nvPr/>
        </p:nvSpPr>
        <p:spPr>
          <a:xfrm>
            <a:off x="5805750" y="2291200"/>
            <a:ext cx="749100" cy="158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Exception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8" name="Google Shape;778;p60"/>
          <p:cNvSpPr/>
          <p:nvPr/>
        </p:nvSpPr>
        <p:spPr>
          <a:xfrm>
            <a:off x="2224000" y="2291200"/>
            <a:ext cx="749100" cy="158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Exception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9" name="Google Shape;779;p60"/>
          <p:cNvSpPr/>
          <p:nvPr/>
        </p:nvSpPr>
        <p:spPr>
          <a:xfrm>
            <a:off x="3853150" y="2291200"/>
            <a:ext cx="749100" cy="158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Exception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80" name="Google Shape;780;p60"/>
          <p:cNvCxnSpPr>
            <a:endCxn id="776" idx="0"/>
          </p:cNvCxnSpPr>
          <p:nvPr/>
        </p:nvCxnSpPr>
        <p:spPr>
          <a:xfrm>
            <a:off x="2926275" y="2463575"/>
            <a:ext cx="591600" cy="57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1" name="Google Shape;781;p60"/>
          <p:cNvCxnSpPr>
            <a:stCxn id="779" idx="2"/>
            <a:endCxn id="776" idx="0"/>
          </p:cNvCxnSpPr>
          <p:nvPr/>
        </p:nvCxnSpPr>
        <p:spPr>
          <a:xfrm flipH="1">
            <a:off x="3517900" y="2449600"/>
            <a:ext cx="709800" cy="59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2" name="Google Shape;782;p60"/>
          <p:cNvCxnSpPr>
            <a:stCxn id="777" idx="2"/>
            <a:endCxn id="776" idx="0"/>
          </p:cNvCxnSpPr>
          <p:nvPr/>
        </p:nvCxnSpPr>
        <p:spPr>
          <a:xfrm flipH="1">
            <a:off x="3517800" y="2449600"/>
            <a:ext cx="2662500" cy="59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3" name="Google Shape;783;p60"/>
          <p:cNvCxnSpPr>
            <a:stCxn id="776" idx="1"/>
            <a:endCxn id="771" idx="1"/>
          </p:cNvCxnSpPr>
          <p:nvPr/>
        </p:nvCxnSpPr>
        <p:spPr>
          <a:xfrm rot="10800000">
            <a:off x="1287375" y="2303525"/>
            <a:ext cx="1642500" cy="107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4" name="Google Shape;784;p60"/>
          <p:cNvSpPr txBox="1"/>
          <p:nvPr/>
        </p:nvSpPr>
        <p:spPr>
          <a:xfrm>
            <a:off x="1388513" y="2826125"/>
            <a:ext cx="95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Http response with specific error status</a:t>
            </a:r>
            <a:endParaRPr sz="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85" name="Google Shape;785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1154" y="517454"/>
            <a:ext cx="534600" cy="534634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0"/>
          <p:cNvSpPr/>
          <p:nvPr/>
        </p:nvSpPr>
        <p:spPr>
          <a:xfrm>
            <a:off x="7482150" y="2291200"/>
            <a:ext cx="749100" cy="158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Exception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87" name="Google Shape;787;p60"/>
          <p:cNvCxnSpPr>
            <a:stCxn id="786" idx="2"/>
            <a:endCxn id="776" idx="0"/>
          </p:cNvCxnSpPr>
          <p:nvPr/>
        </p:nvCxnSpPr>
        <p:spPr>
          <a:xfrm flipH="1">
            <a:off x="3517800" y="2449600"/>
            <a:ext cx="4338900" cy="59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1"/>
          <p:cNvSpPr txBox="1"/>
          <p:nvPr>
            <p:ph idx="1" type="body"/>
          </p:nvPr>
        </p:nvSpPr>
        <p:spPr>
          <a:xfrm>
            <a:off x="1359675" y="870675"/>
            <a:ext cx="7038900" cy="4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├── main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├── java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└── com.pridesys.clouderp.security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├── config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├── controller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├── dto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├── dtoMapper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├── exception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├── model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├── repositories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├── service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├── types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└── utils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└── resources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	  </a:t>
            </a: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├── db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    </a:t>
            </a: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└── tem</a:t>
            </a: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plates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└── test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    ├── java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    │   └── com.pridesys.clouderp.security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    │       ├── controller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    │       ├── repository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    │       └── service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    └── resources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        └── templates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3" name="Google Shape;793;p61"/>
          <p:cNvSpPr txBox="1"/>
          <p:nvPr>
            <p:ph type="title"/>
          </p:nvPr>
        </p:nvSpPr>
        <p:spPr>
          <a:xfrm>
            <a:off x="311700" y="1155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Project Structure</a:t>
            </a:r>
            <a:endParaRPr sz="3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Multi-tenant Database</a:t>
            </a:r>
            <a:endParaRPr/>
          </a:p>
        </p:txBody>
      </p:sp>
      <p:pic>
        <p:nvPicPr>
          <p:cNvPr id="799" name="Google Shape;79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875" y="1302225"/>
            <a:ext cx="7303050" cy="39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Flyway Schema History</a:t>
            </a:r>
            <a:endParaRPr/>
          </a:p>
        </p:txBody>
      </p:sp>
      <p:pic>
        <p:nvPicPr>
          <p:cNvPr id="805" name="Google Shape;80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825" y="169400"/>
            <a:ext cx="4365000" cy="48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 Migration Structure</a:t>
            </a:r>
            <a:endParaRPr/>
          </a:p>
        </p:txBody>
      </p:sp>
      <p:sp>
        <p:nvSpPr>
          <p:cNvPr id="811" name="Google Shape;811;p64"/>
          <p:cNvSpPr txBox="1"/>
          <p:nvPr>
            <p:ph idx="1" type="body"/>
          </p:nvPr>
        </p:nvSpPr>
        <p:spPr>
          <a:xfrm>
            <a:off x="859175" y="1586125"/>
            <a:ext cx="6201600" cy="30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├── main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├── resources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└── db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├── migration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│	└── V1__init.sql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	      │	├── V2__add_updatedat_col.sql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├── tenants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       	└── V1__init.sql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│			├── V2__add_journal_table.sql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└── resources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│       └── templates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latin typeface="Courier New"/>
                <a:ea typeface="Courier New"/>
                <a:cs typeface="Courier New"/>
                <a:sym typeface="Courier New"/>
              </a:rPr>
              <a:t>└── test</a:t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25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Tests</a:t>
            </a:r>
            <a:endParaRPr/>
          </a:p>
        </p:txBody>
      </p:sp>
      <p:sp>
        <p:nvSpPr>
          <p:cNvPr id="817" name="Google Shape;817;p6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coverage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Testing</a:t>
            </a:r>
            <a:endParaRPr/>
          </a:p>
        </p:txBody>
      </p:sp>
      <p:pic>
        <p:nvPicPr>
          <p:cNvPr id="823" name="Google Shape;823;p66"/>
          <p:cNvPicPr preferRelativeResize="0"/>
          <p:nvPr/>
        </p:nvPicPr>
        <p:blipFill rotWithShape="1">
          <a:blip r:embed="rId3">
            <a:alphaModFix/>
          </a:blip>
          <a:srcRect b="44908" l="29318" r="50220" t="21899"/>
          <a:stretch/>
        </p:blipFill>
        <p:spPr>
          <a:xfrm>
            <a:off x="1177875" y="1528100"/>
            <a:ext cx="2064375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7076" y="1147226"/>
            <a:ext cx="2851850" cy="142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9849" y="2876376"/>
            <a:ext cx="2584776" cy="7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 Tests</a:t>
            </a:r>
            <a:endParaRPr/>
          </a:p>
        </p:txBody>
      </p:sp>
      <p:pic>
        <p:nvPicPr>
          <p:cNvPr id="831" name="Google Shape;831;p67"/>
          <p:cNvPicPr preferRelativeResize="0"/>
          <p:nvPr/>
        </p:nvPicPr>
        <p:blipFill rotWithShape="1">
          <a:blip r:embed="rId3">
            <a:alphaModFix/>
          </a:blip>
          <a:srcRect b="44126" l="70433" r="8479" t="21764"/>
          <a:stretch/>
        </p:blipFill>
        <p:spPr>
          <a:xfrm>
            <a:off x="1258325" y="1479850"/>
            <a:ext cx="2074689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9800" y="2379875"/>
            <a:ext cx="3596925" cy="9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Testing</a:t>
            </a:r>
            <a:endParaRPr/>
          </a:p>
        </p:txBody>
      </p:sp>
      <p:pic>
        <p:nvPicPr>
          <p:cNvPr id="838" name="Google Shape;838;p68"/>
          <p:cNvPicPr preferRelativeResize="0"/>
          <p:nvPr/>
        </p:nvPicPr>
        <p:blipFill rotWithShape="1">
          <a:blip r:embed="rId3">
            <a:alphaModFix/>
          </a:blip>
          <a:srcRect b="10926" l="8698" r="70213" t="55443"/>
          <a:stretch/>
        </p:blipFill>
        <p:spPr>
          <a:xfrm>
            <a:off x="311700" y="1468263"/>
            <a:ext cx="2101173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68"/>
          <p:cNvPicPr preferRelativeResize="0"/>
          <p:nvPr/>
        </p:nvPicPr>
        <p:blipFill rotWithShape="1">
          <a:blip r:embed="rId3">
            <a:alphaModFix/>
          </a:blip>
          <a:srcRect b="10604" l="49810" r="29102" t="55288"/>
          <a:stretch/>
        </p:blipFill>
        <p:spPr>
          <a:xfrm>
            <a:off x="2460575" y="1453000"/>
            <a:ext cx="2101176" cy="2778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6225" y="2322675"/>
            <a:ext cx="2777525" cy="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Coverage</a:t>
            </a:r>
            <a:endParaRPr/>
          </a:p>
        </p:txBody>
      </p:sp>
      <p:pic>
        <p:nvPicPr>
          <p:cNvPr id="846" name="Google Shape;84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25" y="1351350"/>
            <a:ext cx="3086175" cy="30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8550" y="1562363"/>
            <a:ext cx="5383399" cy="201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0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Devops</a:t>
            </a:r>
            <a:endParaRPr/>
          </a:p>
        </p:txBody>
      </p:sp>
      <p:sp>
        <p:nvSpPr>
          <p:cNvPr id="853" name="Google Shape;853;p70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CI/CD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Devops</a:t>
            </a:r>
            <a:endParaRPr/>
          </a:p>
        </p:txBody>
      </p:sp>
      <p:sp>
        <p:nvSpPr>
          <p:cNvPr id="859" name="Google Shape;859;p7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Continuous 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Continuous Deployment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Automation with external software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Automated update to JIRA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Notification to Chat solution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DevOps </a:t>
            </a:r>
            <a:r>
              <a:rPr lang="en"/>
              <a:t>Lifecycle</a:t>
            </a:r>
            <a:endParaRPr/>
          </a:p>
        </p:txBody>
      </p:sp>
      <p:pic>
        <p:nvPicPr>
          <p:cNvPr id="865" name="Google Shape;86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050" y="1138825"/>
            <a:ext cx="6364749" cy="367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 Workflow</a:t>
            </a:r>
            <a:endParaRPr/>
          </a:p>
        </p:txBody>
      </p:sp>
      <p:pic>
        <p:nvPicPr>
          <p:cNvPr id="871" name="Google Shape;87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1100" y="1147225"/>
            <a:ext cx="6068045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CD workflow</a:t>
            </a:r>
            <a:endParaRPr/>
          </a:p>
        </p:txBody>
      </p:sp>
      <p:pic>
        <p:nvPicPr>
          <p:cNvPr id="877" name="Google Shape;87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013" y="1147225"/>
            <a:ext cx="6411980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Automation in JIRA</a:t>
            </a:r>
            <a:endParaRPr/>
          </a:p>
        </p:txBody>
      </p:sp>
      <p:sp>
        <p:nvSpPr>
          <p:cNvPr id="883" name="Google Shape;883;p7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branch is created ⮞ Move issue to </a:t>
            </a:r>
            <a:r>
              <a:rPr lang="en"/>
              <a:t>‘IN PROGRESS’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all child issue are completed ⮞ Close the parent issue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pull request is merged ⮞ Move the issue to ‘DONE’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commit is created ⮞ Move issue to ‘IN PROGRESS’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pull request is created ⮞ Move issue to ‘UNDER REVIEW’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sub task is created ⮞ Automatically assign subtask from parent </a:t>
            </a:r>
            <a:r>
              <a:rPr lang="en"/>
              <a:t>issues’</a:t>
            </a:r>
            <a:r>
              <a:rPr lang="en"/>
              <a:t> assignee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Notification to Chat solution</a:t>
            </a:r>
            <a:endParaRPr/>
          </a:p>
        </p:txBody>
      </p:sp>
      <p:sp>
        <p:nvSpPr>
          <p:cNvPr id="889" name="Google Shape;889;p7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Whenever any sort of automation is triggered ⮞ Notify about the automation update in one channel.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Usage of automation</a:t>
            </a:r>
            <a:endParaRPr/>
          </a:p>
        </p:txBody>
      </p:sp>
      <p:sp>
        <p:nvSpPr>
          <p:cNvPr id="895" name="Google Shape;895;p77"/>
          <p:cNvSpPr txBox="1"/>
          <p:nvPr>
            <p:ph idx="1" type="body"/>
          </p:nvPr>
        </p:nvSpPr>
        <p:spPr>
          <a:xfrm>
            <a:off x="311700" y="12179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JIRA: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Today current usage: 73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Limit in every month: 100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GITHUB: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Last month’s usage: around 1100 minutes.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Limit in every month: 3000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  <p:sp>
        <p:nvSpPr>
          <p:cNvPr id="901" name="Google Shape;901;p7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see all our documents: </a:t>
            </a:r>
            <a:r>
              <a:rPr lang="en" u="sng">
                <a:solidFill>
                  <a:schemeClr val="hlink"/>
                </a:solidFill>
                <a:hlinkClick r:id="rId3"/>
              </a:rPr>
              <a:t>Documentation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see our Accounting Module API Documentation: </a:t>
            </a:r>
            <a:r>
              <a:rPr lang="en" u="sng">
                <a:solidFill>
                  <a:schemeClr val="hlink"/>
                </a:solidFill>
                <a:hlinkClick r:id="rId4"/>
              </a:rPr>
              <a:t>API Doc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9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