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6" r:id="rId3"/>
    <p:sldId id="260" r:id="rId4"/>
    <p:sldId id="261" r:id="rId5"/>
    <p:sldId id="262" r:id="rId6"/>
    <p:sldId id="265" r:id="rId7"/>
    <p:sldId id="264" r:id="rId8"/>
    <p:sldId id="266" r:id="rId9"/>
    <p:sldId id="267" r:id="rId10"/>
    <p:sldId id="268" r:id="rId11"/>
    <p:sldId id="273" r:id="rId12"/>
    <p:sldId id="274" r:id="rId13"/>
    <p:sldId id="269" r:id="rId14"/>
    <p:sldId id="270" r:id="rId15"/>
    <p:sldId id="272" r:id="rId16"/>
    <p:sldId id="277" r:id="rId17"/>
    <p:sldId id="278" r:id="rId18"/>
    <p:sldId id="279" r:id="rId19"/>
    <p:sldId id="280" r:id="rId20"/>
    <p:sldId id="263" r:id="rId21"/>
    <p:sldId id="27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6" autoAdjust="0"/>
    <p:restoredTop sz="94660"/>
  </p:normalViewPr>
  <p:slideViewPr>
    <p:cSldViewPr snapToGrid="0">
      <p:cViewPr varScale="1">
        <p:scale>
          <a:sx n="74" d="100"/>
          <a:sy n="74" d="100"/>
        </p:scale>
        <p:origin x="-54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1E700B27-DE4C-4B9E-BB11-B9027034A00F}" type="datetimeFigureOut">
              <a:rPr lang="en-US" dirty="0"/>
              <a:pPr/>
              <a:t>1/7/2019</a:t>
            </a:fld>
            <a:endParaRPr lang="en-US" dirty="0"/>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r>
              <a:rPr lang="en-US" dirty="0"/>
              <a:t>
              </a:t>
            </a:r>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D57F1E4F-1CFF-5643-939E-217C01CDF565}" type="slidenum">
              <a:rPr lang="en-US" dirty="0"/>
              <a:pPr/>
              <a:t>‹#›</a:t>
            </a:fld>
            <a:endParaRPr lang="en-US" dirty="0"/>
          </a:p>
        </p:txBody>
      </p:sp>
      <p:pic>
        <p:nvPicPr>
          <p:cNvPr id="17" name="Picture 16">
            <a:extLst>
              <a:ext uri="{FF2B5EF4-FFF2-40B4-BE49-F238E27FC236}">
                <a16:creationId xmlns="" xmlns:a16="http://schemas.microsoft.com/office/drawing/2014/main" id="{EB97698A-4549-46C3-9D04-797E31A501B4}"/>
              </a:ext>
            </a:extLst>
          </p:cNvPr>
          <p:cNvPicPr>
            <a:picLocks noChangeAspect="1"/>
          </p:cNvPicPr>
          <p:nvPr userDrawn="1"/>
        </p:nvPicPr>
        <p:blipFill>
          <a:blip r:embed="rId3"/>
          <a:stretch>
            <a:fillRect/>
          </a:stretch>
        </p:blipFill>
        <p:spPr>
          <a:xfrm>
            <a:off x="10461821" y="426200"/>
            <a:ext cx="639813" cy="63981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557164" y="6394061"/>
            <a:ext cx="1084373" cy="304799"/>
          </a:xfrm>
        </p:spPr>
        <p:txBody>
          <a:bodyPr/>
          <a:lstStyle>
            <a:lvl1pPr>
              <a:defRPr sz="800" b="0"/>
            </a:lvl1pPr>
          </a:lstStyle>
          <a:p>
            <a:r>
              <a:rPr lang="en-US" dirty="0"/>
              <a:t>October 31, 2018</a:t>
            </a:r>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pic>
        <p:nvPicPr>
          <p:cNvPr id="7" name="Picture 6">
            <a:extLst>
              <a:ext uri="{FF2B5EF4-FFF2-40B4-BE49-F238E27FC236}">
                <a16:creationId xmlns="" xmlns:a16="http://schemas.microsoft.com/office/drawing/2014/main" id="{78A21EC8-5792-4D2D-9A7F-12447BDFC940}"/>
              </a:ext>
            </a:extLst>
          </p:cNvPr>
          <p:cNvPicPr>
            <a:picLocks noChangeAspect="1"/>
          </p:cNvPicPr>
          <p:nvPr userDrawn="1"/>
        </p:nvPicPr>
        <p:blipFill>
          <a:blip r:embed="rId2"/>
          <a:stretch>
            <a:fillRect/>
          </a:stretch>
        </p:blipFill>
        <p:spPr>
          <a:xfrm>
            <a:off x="10461821" y="426200"/>
            <a:ext cx="639813" cy="639813"/>
          </a:xfrm>
          <a:prstGeom prst="rect">
            <a:avLst/>
          </a:prstGeom>
        </p:spPr>
      </p:pic>
      <p:sp>
        <p:nvSpPr>
          <p:cNvPr id="8" name="TextBox 7">
            <a:extLst>
              <a:ext uri="{FF2B5EF4-FFF2-40B4-BE49-F238E27FC236}">
                <a16:creationId xmlns="" xmlns:a16="http://schemas.microsoft.com/office/drawing/2014/main" id="{5D059B15-614C-4990-A713-EDE712C86BC9}"/>
              </a:ext>
            </a:extLst>
          </p:cNvPr>
          <p:cNvSpPr txBox="1"/>
          <p:nvPr userDrawn="1"/>
        </p:nvSpPr>
        <p:spPr>
          <a:xfrm>
            <a:off x="532011" y="6391838"/>
            <a:ext cx="3665913" cy="215444"/>
          </a:xfrm>
          <a:prstGeom prst="rect">
            <a:avLst/>
          </a:prstGeom>
          <a:noFill/>
        </p:spPr>
        <p:txBody>
          <a:bodyPr wrap="square" rtlCol="0">
            <a:spAutoFit/>
          </a:bodyPr>
          <a:lstStyle/>
          <a:p>
            <a:pPr algn="l"/>
            <a:r>
              <a:rPr lang="en-US" sz="800" dirty="0">
                <a:solidFill>
                  <a:schemeClr val="accent1"/>
                </a:solidFill>
              </a:rPr>
              <a:t>Miracle Advance Technologies Co. Ltd. </a:t>
            </a:r>
          </a:p>
        </p:txBody>
      </p:sp>
      <p:sp>
        <p:nvSpPr>
          <p:cNvPr id="9" name="TextBox 8">
            <a:extLst>
              <a:ext uri="{FF2B5EF4-FFF2-40B4-BE49-F238E27FC236}">
                <a16:creationId xmlns="" xmlns:a16="http://schemas.microsoft.com/office/drawing/2014/main" id="{925E2144-4476-4BEE-BE48-C978152422FD}"/>
              </a:ext>
            </a:extLst>
          </p:cNvPr>
          <p:cNvSpPr txBox="1"/>
          <p:nvPr userDrawn="1"/>
        </p:nvSpPr>
        <p:spPr>
          <a:xfrm>
            <a:off x="4388154" y="6391189"/>
            <a:ext cx="1084374" cy="215444"/>
          </a:xfrm>
          <a:prstGeom prst="rect">
            <a:avLst/>
          </a:prstGeom>
          <a:noFill/>
        </p:spPr>
        <p:txBody>
          <a:bodyPr wrap="square" rtlCol="0">
            <a:spAutoFit/>
          </a:bodyPr>
          <a:lstStyle/>
          <a:p>
            <a:pPr algn="ctr"/>
            <a:fld id="{E427183B-5BA2-41D1-99AB-3F945897850E}" type="slidenum">
              <a:rPr lang="en-US" sz="800" smtClean="0">
                <a:solidFill>
                  <a:schemeClr val="accent1"/>
                </a:solidFill>
              </a:rPr>
              <a:pPr algn="ctr"/>
              <a:t>‹#›</a:t>
            </a:fld>
            <a:endParaRPr lang="en-US" sz="800" dirty="0">
              <a:solidFill>
                <a:schemeClr val="accent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AAA073D-A903-47F8-8D16-77642FB0DF1F}" type="datetimeFigureOut">
              <a:rPr lang="en-US" dirty="0"/>
              <a:t>1/7/2019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dirty="0"/>
              <a:t>1/7/2019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dirty="0"/>
              <a:t>1/7/2019</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dirty="0"/>
              <a:t>1/7/2019</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dirty="0"/>
              <a:t>1/7/2019</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8E665CEB-0076-4E37-B880-BCEA9784DE0A}" type="datetimeFigureOut">
              <a:rPr lang="en-US" dirty="0"/>
              <a:t>1/7/2019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A6149E5E-3896-4118-99A7-7B85668F1C5E}" type="datetimeFigureOut">
              <a:rPr lang="en-US" dirty="0"/>
              <a:t>1/7/2019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40F4739-9812-4A9F-890D-2AD6BA5F6EE8}" type="datetimeFigureOut">
              <a:rPr lang="en-US" dirty="0"/>
              <a:t>1/7/2019</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18845AC5-A3F8-44AA-BA8F-596CDCC976D3}" type="datetimeFigureOut">
              <a:rPr lang="en-US" dirty="0"/>
              <a:t>1/7/2019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C873B183-A821-4095-A363-9EC968635539}" type="datetimeFigureOut">
              <a:rPr lang="en-US" dirty="0"/>
              <a:t>1/7/2019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74D01B4-0AA5-45E6-B2E6-5FA4078AEBCF}" type="datetimeFigureOut">
              <a:rPr lang="en-US" dirty="0"/>
              <a:t>1/7/2019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147335C-0450-40D7-8612-B3203BED4F28}" type="datetimeFigureOut">
              <a:rPr lang="en-US" dirty="0"/>
              <a:t>1/7/2019</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D246A105-2A1C-4284-B4EA-07CF89B1A393}" type="datetimeFigureOut">
              <a:rPr lang="en-US" dirty="0"/>
              <a:t>1/7/2019</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dirty="0"/>
              <a:t>1/7/2019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dirty="0"/>
              <a:t>1/7/2019</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7E0D914D-B099-4142-A885-11F276715148}" type="datetimeFigureOut">
              <a:rPr lang="en-US" dirty="0"/>
              <a:t>1/7/2019</a:t>
            </a:fld>
            <a:endParaRPr lang="en-US" dirty="0"/>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r>
              <a:rPr lang="en-US" dirty="0"/>
              <a:t>
              </a:t>
            </a:r>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203.83.188.246:8087/#/"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E31AE7-E17F-42BD-B4C7-62F60FD641EF}"/>
              </a:ext>
            </a:extLst>
          </p:cNvPr>
          <p:cNvSpPr>
            <a:spLocks noGrp="1"/>
          </p:cNvSpPr>
          <p:nvPr>
            <p:ph type="ctrTitle"/>
          </p:nvPr>
        </p:nvSpPr>
        <p:spPr/>
        <p:txBody>
          <a:bodyPr anchor="t"/>
          <a:lstStyle/>
          <a:p>
            <a:r>
              <a:rPr lang="en-US" dirty="0"/>
              <a:t>PetMatrix - Web Application</a:t>
            </a:r>
          </a:p>
        </p:txBody>
      </p:sp>
      <p:sp>
        <p:nvSpPr>
          <p:cNvPr id="3" name="Subtitle 2">
            <a:extLst>
              <a:ext uri="{FF2B5EF4-FFF2-40B4-BE49-F238E27FC236}">
                <a16:creationId xmlns="" xmlns:a16="http://schemas.microsoft.com/office/drawing/2014/main" id="{3450122C-05B6-48ED-A184-386B6D22AEAB}"/>
              </a:ext>
            </a:extLst>
          </p:cNvPr>
          <p:cNvSpPr>
            <a:spLocks noGrp="1"/>
          </p:cNvSpPr>
          <p:nvPr>
            <p:ph type="subTitle" idx="1"/>
          </p:nvPr>
        </p:nvSpPr>
        <p:spPr/>
        <p:txBody>
          <a:bodyPr/>
          <a:lstStyle/>
          <a:p>
            <a:r>
              <a:rPr lang="en-US" dirty="0"/>
              <a:t>Miracle Advance Technologies co. ltd. </a:t>
            </a:r>
          </a:p>
        </p:txBody>
      </p:sp>
    </p:spTree>
    <p:extLst>
      <p:ext uri="{BB962C8B-B14F-4D97-AF65-F5344CB8AC3E}">
        <p14:creationId xmlns:p14="http://schemas.microsoft.com/office/powerpoint/2010/main" val="167141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CE31AE7-E17F-42BD-B4C7-62F60FD641EF}"/>
              </a:ext>
            </a:extLst>
          </p:cNvPr>
          <p:cNvSpPr>
            <a:spLocks noGrp="1"/>
          </p:cNvSpPr>
          <p:nvPr>
            <p:ph type="ctrTitle"/>
          </p:nvPr>
        </p:nvSpPr>
        <p:spPr>
          <a:xfrm>
            <a:off x="1154955" y="1114424"/>
            <a:ext cx="9289208" cy="4614863"/>
          </a:xfrm>
        </p:spPr>
        <p:txBody>
          <a:bodyPr anchor="t"/>
          <a:lstStyle/>
          <a:p>
            <a:r>
              <a:rPr lang="en-US" sz="2000" i="1" dirty="0"/>
              <a:t>Good afternoon and welcome to PetMatrix web application.</a:t>
            </a:r>
            <a:r>
              <a:rPr lang="en-US" sz="2000" dirty="0"/>
              <a:t/>
            </a:r>
            <a:br>
              <a:rPr lang="en-US" sz="2000" dirty="0"/>
            </a:br>
            <a:r>
              <a:rPr lang="en-US" sz="2000" i="1" dirty="0"/>
              <a:t>Thank you all very much for coming today.</a:t>
            </a:r>
            <a:br>
              <a:rPr lang="en-US" sz="2000" i="1" dirty="0"/>
            </a:br>
            <a:r>
              <a:rPr lang="en-US" sz="2000" dirty="0"/>
              <a:t>Happy new year 2019 in advance.</a:t>
            </a:r>
            <a:br>
              <a:rPr lang="en-US" sz="2000" dirty="0"/>
            </a:br>
            <a:r>
              <a:rPr lang="en-US" sz="2000" dirty="0"/>
              <a:t>This is Surajit Sarkar. I’m presenting on behalf of </a:t>
            </a:r>
            <a:r>
              <a:rPr lang="en-US" sz="2000" i="1" dirty="0"/>
              <a:t>PetMatrix</a:t>
            </a:r>
            <a:r>
              <a:rPr lang="en-US" sz="2000" dirty="0"/>
              <a:t> development team.</a:t>
            </a:r>
            <a:br>
              <a:rPr lang="en-US" sz="2000" dirty="0"/>
            </a:br>
            <a:r>
              <a:rPr lang="en-US" sz="2000" dirty="0"/>
              <a:t>The purpose of today’s presentation to show </a:t>
            </a:r>
            <a:r>
              <a:rPr lang="en-US" sz="2000" i="1" dirty="0"/>
              <a:t>PetMatrix</a:t>
            </a:r>
            <a:r>
              <a:rPr lang="en-US" sz="2000" dirty="0"/>
              <a:t> application</a:t>
            </a:r>
            <a:br>
              <a:rPr lang="en-US" sz="2000" dirty="0"/>
            </a:br>
            <a:r>
              <a:rPr lang="en-US" sz="2000" dirty="0"/>
              <a:t/>
            </a:r>
            <a:br>
              <a:rPr lang="en-US" sz="2000" dirty="0"/>
            </a:br>
            <a:r>
              <a:rPr lang="en-US" sz="2000" dirty="0"/>
              <a:t/>
            </a:r>
            <a:br>
              <a:rPr lang="en-US" sz="2000" dirty="0"/>
            </a:br>
            <a:r>
              <a:rPr lang="en-US" sz="2000" dirty="0"/>
              <a:t>Prepared by</a:t>
            </a:r>
            <a:br>
              <a:rPr lang="en-US" sz="2000" dirty="0"/>
            </a:br>
            <a:r>
              <a:rPr lang="en-US" sz="2000" dirty="0"/>
              <a:t>Md Emdadul Haque, Sr Software Engineer (Team Lead)</a:t>
            </a:r>
            <a:br>
              <a:rPr lang="en-US" sz="2000" dirty="0"/>
            </a:br>
            <a:r>
              <a:rPr lang="en-US" sz="2000" dirty="0"/>
              <a:t>Md Golam Rabbi, Sr. Software Engineer</a:t>
            </a:r>
            <a:br>
              <a:rPr lang="en-US" sz="2000" dirty="0"/>
            </a:br>
            <a:r>
              <a:rPr lang="en-US" sz="2000" dirty="0" err="1"/>
              <a:t>Bipon</a:t>
            </a:r>
            <a:r>
              <a:rPr lang="en-US" sz="2000" dirty="0"/>
              <a:t> Biswas , UX/UI Engineer</a:t>
            </a:r>
          </a:p>
        </p:txBody>
      </p:sp>
    </p:spTree>
    <p:extLst>
      <p:ext uri="{BB962C8B-B14F-4D97-AF65-F5344CB8AC3E}">
        <p14:creationId xmlns:p14="http://schemas.microsoft.com/office/powerpoint/2010/main" val="2267507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F7CB50E-BD48-462C-89BC-ECDD1CE48FB2}"/>
              </a:ext>
            </a:extLst>
          </p:cNvPr>
          <p:cNvSpPr>
            <a:spLocks noGrp="1"/>
          </p:cNvSpPr>
          <p:nvPr>
            <p:ph type="title"/>
          </p:nvPr>
        </p:nvSpPr>
        <p:spPr>
          <a:xfrm>
            <a:off x="1154953" y="973668"/>
            <a:ext cx="8761413" cy="706964"/>
          </a:xfrm>
        </p:spPr>
        <p:txBody>
          <a:bodyPr>
            <a:normAutofit/>
          </a:bodyPr>
          <a:lstStyle/>
          <a:p>
            <a:r>
              <a:rPr lang="en-US" dirty="0"/>
              <a:t>Introduction</a:t>
            </a:r>
          </a:p>
        </p:txBody>
      </p:sp>
      <p:sp>
        <p:nvSpPr>
          <p:cNvPr id="6" name="Content Placeholder 5">
            <a:extLst>
              <a:ext uri="{FF2B5EF4-FFF2-40B4-BE49-F238E27FC236}">
                <a16:creationId xmlns="" xmlns:a16="http://schemas.microsoft.com/office/drawing/2014/main" id="{629259E4-3154-4461-861E-52B8EC3D78F0}"/>
              </a:ext>
            </a:extLst>
          </p:cNvPr>
          <p:cNvSpPr>
            <a:spLocks noGrp="1"/>
          </p:cNvSpPr>
          <p:nvPr>
            <p:ph idx="1"/>
          </p:nvPr>
        </p:nvSpPr>
        <p:spPr>
          <a:xfrm>
            <a:off x="1154955" y="2603500"/>
            <a:ext cx="9420280" cy="3416300"/>
          </a:xfrm>
        </p:spPr>
        <p:txBody>
          <a:bodyPr>
            <a:normAutofit fontScale="92500" lnSpcReduction="10000"/>
          </a:bodyPr>
          <a:lstStyle/>
          <a:p>
            <a:pPr algn="just" fontAlgn="base"/>
            <a:r>
              <a:rPr lang="en-US" sz="2200" b="1" dirty="0"/>
              <a:t>PetMatrix Web Application: </a:t>
            </a:r>
            <a:r>
              <a:rPr lang="en-US" sz="2200" dirty="0"/>
              <a:t>PetMatrix</a:t>
            </a:r>
            <a:r>
              <a:rPr lang="en-US" sz="2200" b="1" dirty="0"/>
              <a:t> </a:t>
            </a:r>
            <a:r>
              <a:rPr lang="en-US" sz="2200" dirty="0"/>
              <a:t>is a cloud-based veterinary practice management software, making life at the practice easier through the enhancement of client and care processes. </a:t>
            </a:r>
          </a:p>
          <a:p>
            <a:pPr algn="just" fontAlgn="base"/>
            <a:r>
              <a:rPr lang="en-US" sz="2200" dirty="0"/>
              <a:t>Our intuitive system is at the forefront of practice management technology.  PetMatrix helps vets in all sectors of the veterinary profession including hundreds of first opinion practices, farm and equine vets as well as large referral and university hospitals. </a:t>
            </a:r>
          </a:p>
          <a:p>
            <a:pPr algn="just" fontAlgn="base"/>
            <a:r>
              <a:rPr lang="en-US" sz="2200" dirty="0"/>
              <a:t>Specific areas of application include scheduling of appointments, registration of cases including client and patient data, case history and electronic medical records, health care reports, reminders, inventory controls, reports and accounting.</a:t>
            </a:r>
          </a:p>
          <a:p>
            <a:endParaRPr lang="en-US" sz="2400" dirty="0"/>
          </a:p>
          <a:p>
            <a:endParaRPr lang="en-US" dirty="0"/>
          </a:p>
          <a:p>
            <a:endParaRPr lang="en-US" dirty="0"/>
          </a:p>
        </p:txBody>
      </p:sp>
    </p:spTree>
    <p:extLst>
      <p:ext uri="{BB962C8B-B14F-4D97-AF65-F5344CB8AC3E}">
        <p14:creationId xmlns:p14="http://schemas.microsoft.com/office/powerpoint/2010/main" val="367309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B903F07-D9D8-4149-BA4E-8E53F1C4C1A4}"/>
              </a:ext>
            </a:extLst>
          </p:cNvPr>
          <p:cNvSpPr>
            <a:spLocks noGrp="1"/>
          </p:cNvSpPr>
          <p:nvPr>
            <p:ph type="title"/>
          </p:nvPr>
        </p:nvSpPr>
        <p:spPr/>
        <p:txBody>
          <a:bodyPr/>
          <a:lstStyle/>
          <a:p>
            <a:r>
              <a:rPr lang="en-US" dirty="0"/>
              <a:t>Features</a:t>
            </a:r>
          </a:p>
        </p:txBody>
      </p:sp>
      <p:sp>
        <p:nvSpPr>
          <p:cNvPr id="5" name="Content Placeholder 4">
            <a:extLst>
              <a:ext uri="{FF2B5EF4-FFF2-40B4-BE49-F238E27FC236}">
                <a16:creationId xmlns="" xmlns:a16="http://schemas.microsoft.com/office/drawing/2014/main" id="{29ADB51D-8DC5-4064-BEBF-643C21FCC0F1}"/>
              </a:ext>
            </a:extLst>
          </p:cNvPr>
          <p:cNvSpPr>
            <a:spLocks noGrp="1"/>
          </p:cNvSpPr>
          <p:nvPr>
            <p:ph idx="1"/>
          </p:nvPr>
        </p:nvSpPr>
        <p:spPr/>
        <p:txBody>
          <a:bodyPr/>
          <a:lstStyle/>
          <a:p>
            <a:r>
              <a:rPr lang="en-US" dirty="0"/>
              <a:t>Registration (Client and Patient)</a:t>
            </a:r>
          </a:p>
          <a:p>
            <a:r>
              <a:rPr lang="en-US" dirty="0"/>
              <a:t>Patient Arrival</a:t>
            </a:r>
          </a:p>
          <a:p>
            <a:r>
              <a:rPr lang="en-US" dirty="0"/>
              <a:t>Worklist</a:t>
            </a:r>
          </a:p>
          <a:p>
            <a:r>
              <a:rPr lang="en-US" dirty="0"/>
              <a:t>Consultation</a:t>
            </a:r>
          </a:p>
          <a:p>
            <a:r>
              <a:rPr lang="en-US" dirty="0"/>
              <a:t>Advance Payment</a:t>
            </a:r>
          </a:p>
          <a:p>
            <a:r>
              <a:rPr lang="en-US" dirty="0"/>
              <a:t>Invoice</a:t>
            </a:r>
          </a:p>
          <a:p>
            <a:r>
              <a:rPr lang="en-US" dirty="0"/>
              <a:t>Reports</a:t>
            </a:r>
          </a:p>
        </p:txBody>
      </p:sp>
    </p:spTree>
    <p:extLst>
      <p:ext uri="{BB962C8B-B14F-4D97-AF65-F5344CB8AC3E}">
        <p14:creationId xmlns:p14="http://schemas.microsoft.com/office/powerpoint/2010/main" val="1910164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19A824-5D92-4504-9329-E2E37B9BDF02}"/>
              </a:ext>
            </a:extLst>
          </p:cNvPr>
          <p:cNvSpPr>
            <a:spLocks noGrp="1"/>
          </p:cNvSpPr>
          <p:nvPr>
            <p:ph type="title"/>
          </p:nvPr>
        </p:nvSpPr>
        <p:spPr/>
        <p:txBody>
          <a:bodyPr/>
          <a:lstStyle/>
          <a:p>
            <a:r>
              <a:rPr lang="en-US" dirty="0"/>
              <a:t>Technology</a:t>
            </a:r>
          </a:p>
        </p:txBody>
      </p:sp>
      <p:sp>
        <p:nvSpPr>
          <p:cNvPr id="4" name="Content Placeholder 3">
            <a:extLst>
              <a:ext uri="{FF2B5EF4-FFF2-40B4-BE49-F238E27FC236}">
                <a16:creationId xmlns="" xmlns:a16="http://schemas.microsoft.com/office/drawing/2014/main" id="{142DC390-CE0E-41B5-B364-867918CB12F5}"/>
              </a:ext>
            </a:extLst>
          </p:cNvPr>
          <p:cNvSpPr>
            <a:spLocks noGrp="1"/>
          </p:cNvSpPr>
          <p:nvPr>
            <p:ph idx="1"/>
          </p:nvPr>
        </p:nvSpPr>
        <p:spPr/>
        <p:txBody>
          <a:bodyPr/>
          <a:lstStyle/>
          <a:p>
            <a:r>
              <a:rPr lang="en-US" dirty="0"/>
              <a:t>Angular 6 and </a:t>
            </a:r>
            <a:r>
              <a:rPr lang="en-US" dirty="0" err="1"/>
              <a:t>primeng</a:t>
            </a:r>
            <a:r>
              <a:rPr lang="en-US" dirty="0"/>
              <a:t> controls are used for client side application</a:t>
            </a:r>
          </a:p>
          <a:p>
            <a:r>
              <a:rPr lang="en-US" dirty="0" err="1"/>
              <a:t>Asp.Net</a:t>
            </a:r>
            <a:r>
              <a:rPr lang="en-US" dirty="0"/>
              <a:t> Core, C#, Web </a:t>
            </a:r>
            <a:r>
              <a:rPr lang="en-US" dirty="0" err="1"/>
              <a:t>Api</a:t>
            </a:r>
            <a:r>
              <a:rPr lang="en-US" dirty="0"/>
              <a:t> core 2.0 and Entity Framework Core are used for server side</a:t>
            </a:r>
          </a:p>
          <a:p>
            <a:r>
              <a:rPr lang="en-US" dirty="0"/>
              <a:t>SQL Server 2016 for Database</a:t>
            </a:r>
          </a:p>
          <a:p>
            <a:r>
              <a:rPr lang="en-US" dirty="0"/>
              <a:t>SQL Server Reporting Service is used for Reports</a:t>
            </a:r>
          </a:p>
        </p:txBody>
      </p:sp>
    </p:spTree>
    <p:extLst>
      <p:ext uri="{BB962C8B-B14F-4D97-AF65-F5344CB8AC3E}">
        <p14:creationId xmlns:p14="http://schemas.microsoft.com/office/powerpoint/2010/main" val="25743153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719A824-5D92-4504-9329-E2E37B9BDF02}"/>
              </a:ext>
            </a:extLst>
          </p:cNvPr>
          <p:cNvSpPr>
            <a:spLocks noGrp="1"/>
          </p:cNvSpPr>
          <p:nvPr>
            <p:ph type="title"/>
          </p:nvPr>
        </p:nvSpPr>
        <p:spPr/>
        <p:txBody>
          <a:bodyPr/>
          <a:lstStyle/>
          <a:p>
            <a:r>
              <a:rPr lang="en-US" dirty="0"/>
              <a:t>Present</a:t>
            </a:r>
          </a:p>
        </p:txBody>
      </p:sp>
      <p:sp>
        <p:nvSpPr>
          <p:cNvPr id="4" name="Content Placeholder 3">
            <a:extLst>
              <a:ext uri="{FF2B5EF4-FFF2-40B4-BE49-F238E27FC236}">
                <a16:creationId xmlns="" xmlns:a16="http://schemas.microsoft.com/office/drawing/2014/main" id="{A6F343A1-6DA2-4B01-9F39-5A7952D8500F}"/>
              </a:ext>
            </a:extLst>
          </p:cNvPr>
          <p:cNvSpPr>
            <a:spLocks noGrp="1"/>
          </p:cNvSpPr>
          <p:nvPr>
            <p:ph idx="1"/>
          </p:nvPr>
        </p:nvSpPr>
        <p:spPr>
          <a:xfrm>
            <a:off x="1154955" y="2603500"/>
            <a:ext cx="8761412" cy="3796038"/>
          </a:xfrm>
        </p:spPr>
        <p:txBody>
          <a:bodyPr/>
          <a:lstStyle/>
          <a:p>
            <a:r>
              <a:rPr lang="en-US" dirty="0"/>
              <a:t>Worklist</a:t>
            </a:r>
          </a:p>
          <a:p>
            <a:pPr lvl="1"/>
            <a:r>
              <a:rPr lang="en-US" dirty="0"/>
              <a:t>After successful login, user or doctor can able to see hi/her work list</a:t>
            </a:r>
          </a:p>
          <a:p>
            <a:pPr lvl="1"/>
            <a:endParaRPr lang="en-US" dirty="0"/>
          </a:p>
          <a:p>
            <a:pPr lvl="1"/>
            <a:endParaRPr lang="en-US" dirty="0"/>
          </a:p>
        </p:txBody>
      </p:sp>
      <p:pic>
        <p:nvPicPr>
          <p:cNvPr id="7" name="Picture 6">
            <a:extLst>
              <a:ext uri="{FF2B5EF4-FFF2-40B4-BE49-F238E27FC236}">
                <a16:creationId xmlns="" xmlns:a16="http://schemas.microsoft.com/office/drawing/2014/main" id="{DEDAC6C3-5B1E-4538-9BFB-F4909D8CD728}"/>
              </a:ext>
            </a:extLst>
          </p:cNvPr>
          <p:cNvPicPr>
            <a:picLocks noChangeAspect="1"/>
          </p:cNvPicPr>
          <p:nvPr/>
        </p:nvPicPr>
        <p:blipFill>
          <a:blip r:embed="rId2"/>
          <a:stretch>
            <a:fillRect/>
          </a:stretch>
        </p:blipFill>
        <p:spPr>
          <a:xfrm>
            <a:off x="1685041" y="3332369"/>
            <a:ext cx="5775933" cy="3094621"/>
          </a:xfrm>
          <a:prstGeom prst="rect">
            <a:avLst/>
          </a:prstGeom>
        </p:spPr>
      </p:pic>
    </p:spTree>
    <p:extLst>
      <p:ext uri="{BB962C8B-B14F-4D97-AF65-F5344CB8AC3E}">
        <p14:creationId xmlns:p14="http://schemas.microsoft.com/office/powerpoint/2010/main" val="2976200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4EA2C41-88CF-4BED-AE35-C6883BB4629B}"/>
              </a:ext>
            </a:extLst>
          </p:cNvPr>
          <p:cNvSpPr>
            <a:spLocks noGrp="1"/>
          </p:cNvSpPr>
          <p:nvPr>
            <p:ph type="title"/>
          </p:nvPr>
        </p:nvSpPr>
        <p:spPr/>
        <p:txBody>
          <a:bodyPr/>
          <a:lstStyle/>
          <a:p>
            <a:r>
              <a:rPr lang="en-US" dirty="0"/>
              <a:t>Present</a:t>
            </a:r>
          </a:p>
        </p:txBody>
      </p:sp>
      <p:sp>
        <p:nvSpPr>
          <p:cNvPr id="5" name="Content Placeholder 4">
            <a:extLst>
              <a:ext uri="{FF2B5EF4-FFF2-40B4-BE49-F238E27FC236}">
                <a16:creationId xmlns="" xmlns:a16="http://schemas.microsoft.com/office/drawing/2014/main" id="{F637E2BA-94E3-4150-900F-D4E44FD2B45D}"/>
              </a:ext>
            </a:extLst>
          </p:cNvPr>
          <p:cNvSpPr>
            <a:spLocks noGrp="1"/>
          </p:cNvSpPr>
          <p:nvPr>
            <p:ph idx="1"/>
          </p:nvPr>
        </p:nvSpPr>
        <p:spPr>
          <a:xfrm>
            <a:off x="1154955" y="2603500"/>
            <a:ext cx="9602070" cy="3698398"/>
          </a:xfrm>
        </p:spPr>
        <p:txBody>
          <a:bodyPr/>
          <a:lstStyle/>
          <a:p>
            <a:r>
              <a:rPr lang="en-US" dirty="0"/>
              <a:t>Client Registration</a:t>
            </a:r>
          </a:p>
          <a:p>
            <a:endParaRPr lang="en-US" dirty="0"/>
          </a:p>
        </p:txBody>
      </p:sp>
      <p:pic>
        <p:nvPicPr>
          <p:cNvPr id="7" name="Picture 6">
            <a:extLst>
              <a:ext uri="{FF2B5EF4-FFF2-40B4-BE49-F238E27FC236}">
                <a16:creationId xmlns="" xmlns:a16="http://schemas.microsoft.com/office/drawing/2014/main" id="{88190C1B-9995-494D-9DA0-A7B54D70D9B7}"/>
              </a:ext>
            </a:extLst>
          </p:cNvPr>
          <p:cNvPicPr>
            <a:picLocks noChangeAspect="1"/>
          </p:cNvPicPr>
          <p:nvPr/>
        </p:nvPicPr>
        <p:blipFill>
          <a:blip r:embed="rId2"/>
          <a:stretch>
            <a:fillRect/>
          </a:stretch>
        </p:blipFill>
        <p:spPr>
          <a:xfrm>
            <a:off x="1434975" y="2979693"/>
            <a:ext cx="6561552" cy="3322205"/>
          </a:xfrm>
          <a:prstGeom prst="rect">
            <a:avLst/>
          </a:prstGeom>
        </p:spPr>
      </p:pic>
    </p:spTree>
    <p:extLst>
      <p:ext uri="{BB962C8B-B14F-4D97-AF65-F5344CB8AC3E}">
        <p14:creationId xmlns:p14="http://schemas.microsoft.com/office/powerpoint/2010/main" val="635703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11C501-739A-4F27-A2F4-57B2871AB69D}"/>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9E5F98C4-842C-427B-B29C-F6F9E8F2C0A4}"/>
              </a:ext>
            </a:extLst>
          </p:cNvPr>
          <p:cNvSpPr>
            <a:spLocks noGrp="1"/>
          </p:cNvSpPr>
          <p:nvPr>
            <p:ph idx="1"/>
          </p:nvPr>
        </p:nvSpPr>
        <p:spPr>
          <a:xfrm>
            <a:off x="1154955" y="2603500"/>
            <a:ext cx="8761412" cy="3611770"/>
          </a:xfrm>
        </p:spPr>
        <p:txBody>
          <a:bodyPr/>
          <a:lstStyle/>
          <a:p>
            <a:r>
              <a:rPr lang="en-US" dirty="0"/>
              <a:t>Patient Registration</a:t>
            </a:r>
          </a:p>
          <a:p>
            <a:endParaRPr lang="en-US" dirty="0"/>
          </a:p>
        </p:txBody>
      </p:sp>
      <p:pic>
        <p:nvPicPr>
          <p:cNvPr id="7" name="Picture 6">
            <a:extLst>
              <a:ext uri="{FF2B5EF4-FFF2-40B4-BE49-F238E27FC236}">
                <a16:creationId xmlns="" xmlns:a16="http://schemas.microsoft.com/office/drawing/2014/main" id="{95AA94DD-B5B5-41DC-A180-CCE504796416}"/>
              </a:ext>
            </a:extLst>
          </p:cNvPr>
          <p:cNvPicPr>
            <a:picLocks noChangeAspect="1"/>
          </p:cNvPicPr>
          <p:nvPr/>
        </p:nvPicPr>
        <p:blipFill>
          <a:blip r:embed="rId2"/>
          <a:stretch>
            <a:fillRect/>
          </a:stretch>
        </p:blipFill>
        <p:spPr>
          <a:xfrm>
            <a:off x="1631026" y="3094856"/>
            <a:ext cx="5776939" cy="2924944"/>
          </a:xfrm>
          <a:prstGeom prst="rect">
            <a:avLst/>
          </a:prstGeom>
        </p:spPr>
      </p:pic>
    </p:spTree>
    <p:extLst>
      <p:ext uri="{BB962C8B-B14F-4D97-AF65-F5344CB8AC3E}">
        <p14:creationId xmlns:p14="http://schemas.microsoft.com/office/powerpoint/2010/main" val="911061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5F73D7-D0CB-45C9-8924-821587F69D76}"/>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D657944F-BC87-44F9-B5CA-557EB5758FF1}"/>
              </a:ext>
            </a:extLst>
          </p:cNvPr>
          <p:cNvSpPr>
            <a:spLocks noGrp="1"/>
          </p:cNvSpPr>
          <p:nvPr>
            <p:ph idx="1"/>
          </p:nvPr>
        </p:nvSpPr>
        <p:spPr>
          <a:xfrm>
            <a:off x="1154955" y="2603500"/>
            <a:ext cx="8761412" cy="3704536"/>
          </a:xfrm>
        </p:spPr>
        <p:txBody>
          <a:bodyPr/>
          <a:lstStyle/>
          <a:p>
            <a:r>
              <a:rPr lang="en-US" dirty="0"/>
              <a:t>Patient Arrival page</a:t>
            </a:r>
          </a:p>
          <a:p>
            <a:endParaRPr lang="en-US" dirty="0"/>
          </a:p>
        </p:txBody>
      </p:sp>
      <p:pic>
        <p:nvPicPr>
          <p:cNvPr id="5" name="Picture 4">
            <a:extLst>
              <a:ext uri="{FF2B5EF4-FFF2-40B4-BE49-F238E27FC236}">
                <a16:creationId xmlns="" xmlns:a16="http://schemas.microsoft.com/office/drawing/2014/main" id="{1A7A864D-3863-458C-841A-1B32EC2B1CC9}"/>
              </a:ext>
            </a:extLst>
          </p:cNvPr>
          <p:cNvPicPr>
            <a:picLocks noChangeAspect="1"/>
          </p:cNvPicPr>
          <p:nvPr/>
        </p:nvPicPr>
        <p:blipFill>
          <a:blip r:embed="rId2"/>
          <a:stretch>
            <a:fillRect/>
          </a:stretch>
        </p:blipFill>
        <p:spPr>
          <a:xfrm>
            <a:off x="1338469" y="3006198"/>
            <a:ext cx="6521326" cy="3301838"/>
          </a:xfrm>
          <a:prstGeom prst="rect">
            <a:avLst/>
          </a:prstGeom>
        </p:spPr>
      </p:pic>
    </p:spTree>
    <p:extLst>
      <p:ext uri="{BB962C8B-B14F-4D97-AF65-F5344CB8AC3E}">
        <p14:creationId xmlns:p14="http://schemas.microsoft.com/office/powerpoint/2010/main" val="35628689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566583-DFA9-466E-95F9-99CCA048073A}"/>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7378F97C-BC32-4CBD-82D0-C9410AB05631}"/>
              </a:ext>
            </a:extLst>
          </p:cNvPr>
          <p:cNvSpPr>
            <a:spLocks noGrp="1"/>
          </p:cNvSpPr>
          <p:nvPr>
            <p:ph idx="1"/>
          </p:nvPr>
        </p:nvSpPr>
        <p:spPr>
          <a:xfrm>
            <a:off x="1154955" y="2603499"/>
            <a:ext cx="8761412" cy="3615151"/>
          </a:xfrm>
        </p:spPr>
        <p:txBody>
          <a:bodyPr/>
          <a:lstStyle/>
          <a:p>
            <a:r>
              <a:rPr lang="en-US" dirty="0"/>
              <a:t>Consultation</a:t>
            </a:r>
          </a:p>
          <a:p>
            <a:endParaRPr lang="en-US" dirty="0"/>
          </a:p>
        </p:txBody>
      </p:sp>
      <p:pic>
        <p:nvPicPr>
          <p:cNvPr id="5" name="Picture 4">
            <a:extLst>
              <a:ext uri="{FF2B5EF4-FFF2-40B4-BE49-F238E27FC236}">
                <a16:creationId xmlns="" xmlns:a16="http://schemas.microsoft.com/office/drawing/2014/main" id="{8CEFED67-7A47-4E59-8C98-BBC2E1249212}"/>
              </a:ext>
            </a:extLst>
          </p:cNvPr>
          <p:cNvPicPr>
            <a:picLocks noChangeAspect="1"/>
          </p:cNvPicPr>
          <p:nvPr/>
        </p:nvPicPr>
        <p:blipFill>
          <a:blip r:embed="rId2"/>
          <a:stretch>
            <a:fillRect/>
          </a:stretch>
        </p:blipFill>
        <p:spPr>
          <a:xfrm>
            <a:off x="1154953" y="3045955"/>
            <a:ext cx="6266264" cy="3172696"/>
          </a:xfrm>
          <a:prstGeom prst="rect">
            <a:avLst/>
          </a:prstGeom>
        </p:spPr>
      </p:pic>
    </p:spTree>
    <p:extLst>
      <p:ext uri="{BB962C8B-B14F-4D97-AF65-F5344CB8AC3E}">
        <p14:creationId xmlns:p14="http://schemas.microsoft.com/office/powerpoint/2010/main" val="1095662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068516-8071-4E2B-B5ED-752ADF2CB739}"/>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E9334009-B0AA-4EAD-8783-91A9B6BBD6DF}"/>
              </a:ext>
            </a:extLst>
          </p:cNvPr>
          <p:cNvSpPr>
            <a:spLocks noGrp="1"/>
          </p:cNvSpPr>
          <p:nvPr>
            <p:ph idx="1"/>
          </p:nvPr>
        </p:nvSpPr>
        <p:spPr>
          <a:xfrm>
            <a:off x="1154955" y="2603500"/>
            <a:ext cx="8761412" cy="3585264"/>
          </a:xfrm>
        </p:spPr>
        <p:txBody>
          <a:bodyPr/>
          <a:lstStyle/>
          <a:p>
            <a:r>
              <a:rPr lang="en-US" dirty="0"/>
              <a:t>Advance Payment</a:t>
            </a:r>
          </a:p>
          <a:p>
            <a:endParaRPr lang="en-US" dirty="0"/>
          </a:p>
        </p:txBody>
      </p:sp>
      <p:pic>
        <p:nvPicPr>
          <p:cNvPr id="5" name="Picture 4">
            <a:extLst>
              <a:ext uri="{FF2B5EF4-FFF2-40B4-BE49-F238E27FC236}">
                <a16:creationId xmlns="" xmlns:a16="http://schemas.microsoft.com/office/drawing/2014/main" id="{052B70E8-C286-4045-8904-5D73580990B6}"/>
              </a:ext>
            </a:extLst>
          </p:cNvPr>
          <p:cNvPicPr>
            <a:picLocks noChangeAspect="1"/>
          </p:cNvPicPr>
          <p:nvPr/>
        </p:nvPicPr>
        <p:blipFill>
          <a:blip r:embed="rId2"/>
          <a:stretch>
            <a:fillRect/>
          </a:stretch>
        </p:blipFill>
        <p:spPr>
          <a:xfrm>
            <a:off x="1154953" y="3109783"/>
            <a:ext cx="5746740" cy="3078981"/>
          </a:xfrm>
          <a:prstGeom prst="rect">
            <a:avLst/>
          </a:prstGeom>
        </p:spPr>
      </p:pic>
    </p:spTree>
    <p:extLst>
      <p:ext uri="{BB962C8B-B14F-4D97-AF65-F5344CB8AC3E}">
        <p14:creationId xmlns:p14="http://schemas.microsoft.com/office/powerpoint/2010/main" val="449587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776CF2B-F97A-4059-ACD0-051D357F37CA}"/>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5470199E-6D5A-4EB5-887D-3DD34A16503E}"/>
              </a:ext>
            </a:extLst>
          </p:cNvPr>
          <p:cNvSpPr>
            <a:spLocks noGrp="1"/>
          </p:cNvSpPr>
          <p:nvPr>
            <p:ph idx="1"/>
          </p:nvPr>
        </p:nvSpPr>
        <p:spPr>
          <a:xfrm>
            <a:off x="1154955" y="2603499"/>
            <a:ext cx="8761412" cy="3718659"/>
          </a:xfrm>
        </p:spPr>
        <p:txBody>
          <a:bodyPr/>
          <a:lstStyle/>
          <a:p>
            <a:r>
              <a:rPr lang="en-US" dirty="0"/>
              <a:t>Advance Payment Money Receipt</a:t>
            </a:r>
          </a:p>
          <a:p>
            <a:endParaRPr lang="en-US" dirty="0"/>
          </a:p>
        </p:txBody>
      </p:sp>
      <p:pic>
        <p:nvPicPr>
          <p:cNvPr id="5" name="Picture 4">
            <a:extLst>
              <a:ext uri="{FF2B5EF4-FFF2-40B4-BE49-F238E27FC236}">
                <a16:creationId xmlns="" xmlns:a16="http://schemas.microsoft.com/office/drawing/2014/main" id="{74D4F8AE-1B83-4D23-8FCE-00C788C509F8}"/>
              </a:ext>
            </a:extLst>
          </p:cNvPr>
          <p:cNvPicPr>
            <a:picLocks noChangeAspect="1"/>
          </p:cNvPicPr>
          <p:nvPr/>
        </p:nvPicPr>
        <p:blipFill>
          <a:blip r:embed="rId2"/>
          <a:stretch>
            <a:fillRect/>
          </a:stretch>
        </p:blipFill>
        <p:spPr>
          <a:xfrm>
            <a:off x="1404731" y="3014247"/>
            <a:ext cx="6533322" cy="3307912"/>
          </a:xfrm>
          <a:prstGeom prst="rect">
            <a:avLst/>
          </a:prstGeom>
        </p:spPr>
      </p:pic>
    </p:spTree>
    <p:extLst>
      <p:ext uri="{BB962C8B-B14F-4D97-AF65-F5344CB8AC3E}">
        <p14:creationId xmlns:p14="http://schemas.microsoft.com/office/powerpoint/2010/main" val="377627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461F42D-079F-451E-A5FF-6786BAB5EF3C}"/>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4C9091EF-982A-4FD6-B7B1-065B729926A5}"/>
              </a:ext>
            </a:extLst>
          </p:cNvPr>
          <p:cNvSpPr>
            <a:spLocks noGrp="1"/>
          </p:cNvSpPr>
          <p:nvPr>
            <p:ph idx="1"/>
          </p:nvPr>
        </p:nvSpPr>
        <p:spPr>
          <a:xfrm>
            <a:off x="1154955" y="2603499"/>
            <a:ext cx="8761412" cy="3731039"/>
          </a:xfrm>
        </p:spPr>
        <p:txBody>
          <a:bodyPr/>
          <a:lstStyle/>
          <a:p>
            <a:r>
              <a:rPr lang="en-US" dirty="0"/>
              <a:t>Invoice</a:t>
            </a:r>
          </a:p>
          <a:p>
            <a:endParaRPr lang="en-US" dirty="0"/>
          </a:p>
        </p:txBody>
      </p:sp>
      <p:pic>
        <p:nvPicPr>
          <p:cNvPr id="5" name="Picture 4">
            <a:extLst>
              <a:ext uri="{FF2B5EF4-FFF2-40B4-BE49-F238E27FC236}">
                <a16:creationId xmlns="" xmlns:a16="http://schemas.microsoft.com/office/drawing/2014/main" id="{206F7D27-EBC8-452F-92A5-9129DBE894E0}"/>
              </a:ext>
            </a:extLst>
          </p:cNvPr>
          <p:cNvPicPr>
            <a:picLocks noChangeAspect="1"/>
          </p:cNvPicPr>
          <p:nvPr/>
        </p:nvPicPr>
        <p:blipFill>
          <a:blip r:embed="rId2"/>
          <a:stretch>
            <a:fillRect/>
          </a:stretch>
        </p:blipFill>
        <p:spPr>
          <a:xfrm>
            <a:off x="1298713" y="3045954"/>
            <a:ext cx="6255026" cy="3167007"/>
          </a:xfrm>
          <a:prstGeom prst="rect">
            <a:avLst/>
          </a:prstGeom>
        </p:spPr>
      </p:pic>
    </p:spTree>
    <p:extLst>
      <p:ext uri="{BB962C8B-B14F-4D97-AF65-F5344CB8AC3E}">
        <p14:creationId xmlns:p14="http://schemas.microsoft.com/office/powerpoint/2010/main" val="2621907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0782E4-7A89-4F08-844D-5F75B1F8FAFA}"/>
              </a:ext>
            </a:extLst>
          </p:cNvPr>
          <p:cNvSpPr>
            <a:spLocks noGrp="1"/>
          </p:cNvSpPr>
          <p:nvPr>
            <p:ph type="title"/>
          </p:nvPr>
        </p:nvSpPr>
        <p:spPr/>
        <p:txBody>
          <a:bodyPr/>
          <a:lstStyle/>
          <a:p>
            <a:r>
              <a:rPr lang="en-US" dirty="0"/>
              <a:t>Present</a:t>
            </a:r>
          </a:p>
        </p:txBody>
      </p:sp>
      <p:sp>
        <p:nvSpPr>
          <p:cNvPr id="3" name="Content Placeholder 2">
            <a:extLst>
              <a:ext uri="{FF2B5EF4-FFF2-40B4-BE49-F238E27FC236}">
                <a16:creationId xmlns="" xmlns:a16="http://schemas.microsoft.com/office/drawing/2014/main" id="{20C2A054-93B0-4F3F-B020-49655085D5AC}"/>
              </a:ext>
            </a:extLst>
          </p:cNvPr>
          <p:cNvSpPr>
            <a:spLocks noGrp="1"/>
          </p:cNvSpPr>
          <p:nvPr>
            <p:ph idx="1"/>
          </p:nvPr>
        </p:nvSpPr>
        <p:spPr>
          <a:xfrm>
            <a:off x="1154955" y="2603500"/>
            <a:ext cx="8761412" cy="3770796"/>
          </a:xfrm>
        </p:spPr>
        <p:txBody>
          <a:bodyPr/>
          <a:lstStyle/>
          <a:p>
            <a:r>
              <a:rPr lang="en-US" dirty="0"/>
              <a:t>Invoice Report</a:t>
            </a:r>
          </a:p>
          <a:p>
            <a:endParaRPr lang="en-US" dirty="0"/>
          </a:p>
        </p:txBody>
      </p:sp>
      <p:pic>
        <p:nvPicPr>
          <p:cNvPr id="5" name="Picture 4">
            <a:extLst>
              <a:ext uri="{FF2B5EF4-FFF2-40B4-BE49-F238E27FC236}">
                <a16:creationId xmlns="" xmlns:a16="http://schemas.microsoft.com/office/drawing/2014/main" id="{F5A669E7-5D54-47C9-95C2-A3FDAC1856E7}"/>
              </a:ext>
            </a:extLst>
          </p:cNvPr>
          <p:cNvPicPr>
            <a:picLocks noChangeAspect="1"/>
          </p:cNvPicPr>
          <p:nvPr/>
        </p:nvPicPr>
        <p:blipFill>
          <a:blip r:embed="rId2"/>
          <a:stretch>
            <a:fillRect/>
          </a:stretch>
        </p:blipFill>
        <p:spPr>
          <a:xfrm>
            <a:off x="1325217" y="3004170"/>
            <a:ext cx="6446808" cy="3264108"/>
          </a:xfrm>
          <a:prstGeom prst="rect">
            <a:avLst/>
          </a:prstGeom>
        </p:spPr>
      </p:pic>
    </p:spTree>
    <p:extLst>
      <p:ext uri="{BB962C8B-B14F-4D97-AF65-F5344CB8AC3E}">
        <p14:creationId xmlns:p14="http://schemas.microsoft.com/office/powerpoint/2010/main" val="21587037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E688EC1-ED26-4FE6-93D7-5CCC05323B23}"/>
              </a:ext>
            </a:extLst>
          </p:cNvPr>
          <p:cNvSpPr>
            <a:spLocks noGrp="1"/>
          </p:cNvSpPr>
          <p:nvPr>
            <p:ph type="title"/>
          </p:nvPr>
        </p:nvSpPr>
        <p:spPr/>
        <p:txBody>
          <a:bodyPr/>
          <a:lstStyle/>
          <a:p>
            <a:r>
              <a:rPr lang="en-US" dirty="0"/>
              <a:t>Roadmap</a:t>
            </a:r>
          </a:p>
        </p:txBody>
      </p:sp>
      <p:sp>
        <p:nvSpPr>
          <p:cNvPr id="3" name="Content Placeholder 2">
            <a:extLst>
              <a:ext uri="{FF2B5EF4-FFF2-40B4-BE49-F238E27FC236}">
                <a16:creationId xmlns="" xmlns:a16="http://schemas.microsoft.com/office/drawing/2014/main" id="{A17BF14A-ECB9-490A-8BE9-5777D4A8CC67}"/>
              </a:ext>
            </a:extLst>
          </p:cNvPr>
          <p:cNvSpPr>
            <a:spLocks noGrp="1"/>
          </p:cNvSpPr>
          <p:nvPr>
            <p:ph idx="1"/>
          </p:nvPr>
        </p:nvSpPr>
        <p:spPr/>
        <p:txBody>
          <a:bodyPr/>
          <a:lstStyle/>
          <a:p>
            <a:r>
              <a:rPr lang="en-US" dirty="0"/>
              <a:t>Inventory</a:t>
            </a:r>
          </a:p>
          <a:p>
            <a:r>
              <a:rPr lang="en-US" dirty="0"/>
              <a:t>IPD</a:t>
            </a:r>
          </a:p>
          <a:p>
            <a:r>
              <a:rPr lang="en-US" dirty="0"/>
              <a:t>LIS</a:t>
            </a:r>
          </a:p>
          <a:p>
            <a:r>
              <a:rPr lang="en-US" dirty="0"/>
              <a:t>RIS</a:t>
            </a:r>
          </a:p>
          <a:p>
            <a:r>
              <a:rPr lang="en-US" dirty="0"/>
              <a:t>OT</a:t>
            </a:r>
          </a:p>
          <a:p>
            <a:r>
              <a:rPr lang="en-US" dirty="0"/>
              <a:t>Emergency</a:t>
            </a:r>
          </a:p>
        </p:txBody>
      </p:sp>
    </p:spTree>
    <p:extLst>
      <p:ext uri="{BB962C8B-B14F-4D97-AF65-F5344CB8AC3E}">
        <p14:creationId xmlns:p14="http://schemas.microsoft.com/office/powerpoint/2010/main" val="3325029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a:t>
            </a:r>
            <a:endParaRPr lang="en-US" dirty="0"/>
          </a:p>
        </p:txBody>
      </p:sp>
      <p:sp>
        <p:nvSpPr>
          <p:cNvPr id="3" name="Content Placeholder 2"/>
          <p:cNvSpPr>
            <a:spLocks noGrp="1"/>
          </p:cNvSpPr>
          <p:nvPr>
            <p:ph idx="1"/>
          </p:nvPr>
        </p:nvSpPr>
        <p:spPr>
          <a:xfrm>
            <a:off x="1154955" y="2616378"/>
            <a:ext cx="8761412" cy="3552601"/>
          </a:xfrm>
        </p:spPr>
        <p:txBody>
          <a:bodyPr/>
          <a:lstStyle/>
          <a:p>
            <a:endParaRPr lang="en-US" dirty="0" smtClean="0"/>
          </a:p>
          <a:p>
            <a:r>
              <a:rPr lang="en-US" dirty="0" smtClean="0"/>
              <a:t>Client  </a:t>
            </a:r>
            <a:r>
              <a:rPr lang="en-US" dirty="0" smtClean="0">
                <a:sym typeface="Wingdings" pitchFamily="2" charset="2"/>
              </a:rPr>
              <a:t> Enrollment/ Registration</a:t>
            </a:r>
            <a:endParaRPr lang="en-US" dirty="0"/>
          </a:p>
        </p:txBody>
      </p:sp>
      <p:sp>
        <p:nvSpPr>
          <p:cNvPr id="12" name="Rectangle 11"/>
          <p:cNvSpPr/>
          <p:nvPr/>
        </p:nvSpPr>
        <p:spPr>
          <a:xfrm>
            <a:off x="1468191" y="2923504"/>
            <a:ext cx="3940936"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1468191" y="3797128"/>
            <a:ext cx="3940936"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Patient Registration</a:t>
            </a:r>
            <a:endParaRPr lang="en-US" dirty="0">
              <a:solidFill>
                <a:schemeClr val="tx1"/>
              </a:solidFill>
            </a:endParaRPr>
          </a:p>
        </p:txBody>
      </p:sp>
      <p:sp>
        <p:nvSpPr>
          <p:cNvPr id="14" name="Rectangle 13"/>
          <p:cNvSpPr/>
          <p:nvPr/>
        </p:nvSpPr>
        <p:spPr>
          <a:xfrm>
            <a:off x="1466043" y="4670752"/>
            <a:ext cx="3940936"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Patient Arrival Process</a:t>
            </a:r>
            <a:endParaRPr lang="en-US" dirty="0">
              <a:solidFill>
                <a:schemeClr val="tx1"/>
              </a:solidFill>
            </a:endParaRPr>
          </a:p>
        </p:txBody>
      </p:sp>
      <p:sp>
        <p:nvSpPr>
          <p:cNvPr id="15" name="Rectangle 14"/>
          <p:cNvSpPr/>
          <p:nvPr/>
        </p:nvSpPr>
        <p:spPr>
          <a:xfrm>
            <a:off x="1466043" y="5559403"/>
            <a:ext cx="3940936"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Start Consultation</a:t>
            </a:r>
            <a:endParaRPr lang="en-US" dirty="0">
              <a:solidFill>
                <a:schemeClr val="tx1"/>
              </a:solidFill>
            </a:endParaRPr>
          </a:p>
        </p:txBody>
      </p:sp>
      <p:sp>
        <p:nvSpPr>
          <p:cNvPr id="16" name="Rectangle 15"/>
          <p:cNvSpPr/>
          <p:nvPr/>
        </p:nvSpPr>
        <p:spPr>
          <a:xfrm>
            <a:off x="6913817" y="3805721"/>
            <a:ext cx="2552164"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Appointment</a:t>
            </a:r>
            <a:endParaRPr lang="en-US" dirty="0">
              <a:solidFill>
                <a:schemeClr val="tx1"/>
              </a:solidFill>
            </a:endParaRPr>
          </a:p>
        </p:txBody>
      </p:sp>
      <p:cxnSp>
        <p:nvCxnSpPr>
          <p:cNvPr id="18" name="Elbow Connector 17"/>
          <p:cNvCxnSpPr>
            <a:stCxn id="16" idx="3"/>
            <a:endCxn id="14" idx="3"/>
          </p:cNvCxnSpPr>
          <p:nvPr/>
        </p:nvCxnSpPr>
        <p:spPr>
          <a:xfrm flipH="1">
            <a:off x="5406979" y="4063298"/>
            <a:ext cx="4059002" cy="865031"/>
          </a:xfrm>
          <a:prstGeom prst="bentConnector3">
            <a:avLst>
              <a:gd name="adj1" fmla="val -5632"/>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2" idx="2"/>
            <a:endCxn id="13" idx="0"/>
          </p:cNvCxnSpPr>
          <p:nvPr/>
        </p:nvCxnSpPr>
        <p:spPr>
          <a:xfrm>
            <a:off x="3438659" y="3438658"/>
            <a:ext cx="0" cy="35847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3" idx="2"/>
            <a:endCxn id="14" idx="0"/>
          </p:cNvCxnSpPr>
          <p:nvPr/>
        </p:nvCxnSpPr>
        <p:spPr>
          <a:xfrm flipH="1">
            <a:off x="3436511" y="4312282"/>
            <a:ext cx="2148" cy="35847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4" idx="2"/>
            <a:endCxn id="15" idx="0"/>
          </p:cNvCxnSpPr>
          <p:nvPr/>
        </p:nvCxnSpPr>
        <p:spPr>
          <a:xfrm>
            <a:off x="3436511" y="5185906"/>
            <a:ext cx="0" cy="37349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3438659" y="6074557"/>
            <a:ext cx="0" cy="26184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67264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a:t>
            </a:r>
            <a:endParaRPr lang="en-US" dirty="0"/>
          </a:p>
        </p:txBody>
      </p:sp>
      <p:sp>
        <p:nvSpPr>
          <p:cNvPr id="5" name="Rectangle 4"/>
          <p:cNvSpPr/>
          <p:nvPr/>
        </p:nvSpPr>
        <p:spPr>
          <a:xfrm>
            <a:off x="1002403" y="3408628"/>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Patient Record Entry</a:t>
            </a:r>
            <a:endParaRPr lang="en-US" dirty="0">
              <a:solidFill>
                <a:schemeClr val="tx1"/>
              </a:solidFill>
            </a:endParaRPr>
          </a:p>
        </p:txBody>
      </p:sp>
      <p:sp>
        <p:nvSpPr>
          <p:cNvPr id="6" name="Rectangle 5"/>
          <p:cNvSpPr/>
          <p:nvPr/>
        </p:nvSpPr>
        <p:spPr>
          <a:xfrm>
            <a:off x="4168460" y="3408628"/>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Vital Sign Entry</a:t>
            </a:r>
            <a:endParaRPr lang="en-US" dirty="0">
              <a:solidFill>
                <a:schemeClr val="tx1"/>
              </a:solidFill>
            </a:endParaRPr>
          </a:p>
        </p:txBody>
      </p:sp>
      <p:sp>
        <p:nvSpPr>
          <p:cNvPr id="7" name="Rectangle 6"/>
          <p:cNvSpPr/>
          <p:nvPr/>
        </p:nvSpPr>
        <p:spPr>
          <a:xfrm>
            <a:off x="7334518" y="3402203"/>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Objective Check Entry</a:t>
            </a:r>
            <a:endParaRPr lang="en-US" dirty="0">
              <a:solidFill>
                <a:schemeClr val="tx1"/>
              </a:solidFill>
            </a:endParaRPr>
          </a:p>
        </p:txBody>
      </p:sp>
      <p:sp>
        <p:nvSpPr>
          <p:cNvPr id="8" name="Rectangle 7"/>
          <p:cNvSpPr/>
          <p:nvPr/>
        </p:nvSpPr>
        <p:spPr>
          <a:xfrm>
            <a:off x="7358128" y="4443254"/>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Problem Entry</a:t>
            </a:r>
            <a:endParaRPr lang="en-US" dirty="0">
              <a:solidFill>
                <a:schemeClr val="tx1"/>
              </a:solidFill>
            </a:endParaRPr>
          </a:p>
        </p:txBody>
      </p:sp>
      <p:sp>
        <p:nvSpPr>
          <p:cNvPr id="9" name="Rectangle 8"/>
          <p:cNvSpPr/>
          <p:nvPr/>
        </p:nvSpPr>
        <p:spPr>
          <a:xfrm>
            <a:off x="4168460" y="4443254"/>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Diagnosis Entry</a:t>
            </a:r>
            <a:endParaRPr lang="en-US" dirty="0">
              <a:solidFill>
                <a:schemeClr val="tx1"/>
              </a:solidFill>
            </a:endParaRPr>
          </a:p>
        </p:txBody>
      </p:sp>
      <p:sp>
        <p:nvSpPr>
          <p:cNvPr id="10" name="Rectangle 9"/>
          <p:cNvSpPr/>
          <p:nvPr/>
        </p:nvSpPr>
        <p:spPr>
          <a:xfrm>
            <a:off x="1002403" y="4441143"/>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Make Treatment Plan</a:t>
            </a:r>
            <a:endParaRPr lang="en-US" dirty="0">
              <a:solidFill>
                <a:schemeClr val="tx1"/>
              </a:solidFill>
            </a:endParaRPr>
          </a:p>
        </p:txBody>
      </p:sp>
      <p:sp>
        <p:nvSpPr>
          <p:cNvPr id="11" name="Rectangle 10"/>
          <p:cNvSpPr/>
          <p:nvPr/>
        </p:nvSpPr>
        <p:spPr>
          <a:xfrm>
            <a:off x="1002403" y="5484298"/>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Enter Prognosis</a:t>
            </a:r>
            <a:endParaRPr lang="en-US" dirty="0">
              <a:solidFill>
                <a:schemeClr val="tx1"/>
              </a:solidFill>
            </a:endParaRPr>
          </a:p>
        </p:txBody>
      </p:sp>
      <p:sp>
        <p:nvSpPr>
          <p:cNvPr id="12" name="Rectangle 11"/>
          <p:cNvSpPr/>
          <p:nvPr/>
        </p:nvSpPr>
        <p:spPr>
          <a:xfrm>
            <a:off x="4181339" y="5469308"/>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Record Client Education</a:t>
            </a:r>
            <a:endParaRPr lang="en-US" dirty="0">
              <a:solidFill>
                <a:schemeClr val="tx1"/>
              </a:solidFill>
            </a:endParaRPr>
          </a:p>
        </p:txBody>
      </p:sp>
      <p:sp>
        <p:nvSpPr>
          <p:cNvPr id="13" name="Rectangle 12"/>
          <p:cNvSpPr/>
          <p:nvPr/>
        </p:nvSpPr>
        <p:spPr>
          <a:xfrm>
            <a:off x="7334518" y="5454318"/>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Necessary Lab Test</a:t>
            </a:r>
            <a:endParaRPr lang="en-US" dirty="0">
              <a:solidFill>
                <a:schemeClr val="tx1"/>
              </a:solidFill>
            </a:endParaRPr>
          </a:p>
        </p:txBody>
      </p:sp>
      <p:sp>
        <p:nvSpPr>
          <p:cNvPr id="17" name="Rectangle 16"/>
          <p:cNvSpPr/>
          <p:nvPr/>
        </p:nvSpPr>
        <p:spPr>
          <a:xfrm>
            <a:off x="643943" y="2987905"/>
            <a:ext cx="9813701" cy="3374264"/>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9" name="Straight Arrow Connector 18"/>
          <p:cNvCxnSpPr>
            <a:stCxn id="5" idx="3"/>
            <a:endCxn id="6" idx="1"/>
          </p:cNvCxnSpPr>
          <p:nvPr/>
        </p:nvCxnSpPr>
        <p:spPr>
          <a:xfrm>
            <a:off x="3747751" y="3666205"/>
            <a:ext cx="420709"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6" idx="3"/>
            <a:endCxn id="7" idx="1"/>
          </p:cNvCxnSpPr>
          <p:nvPr/>
        </p:nvCxnSpPr>
        <p:spPr>
          <a:xfrm flipV="1">
            <a:off x="6913808" y="3659780"/>
            <a:ext cx="420710" cy="64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6" name="Elbow Connector 25"/>
          <p:cNvCxnSpPr>
            <a:stCxn id="7" idx="3"/>
            <a:endCxn id="8" idx="3"/>
          </p:cNvCxnSpPr>
          <p:nvPr/>
        </p:nvCxnSpPr>
        <p:spPr>
          <a:xfrm>
            <a:off x="10079866" y="3659780"/>
            <a:ext cx="23610" cy="1041051"/>
          </a:xfrm>
          <a:prstGeom prst="bentConnector3">
            <a:avLst>
              <a:gd name="adj1" fmla="val 1068234"/>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8" idx="1"/>
            <a:endCxn id="9" idx="3"/>
          </p:cNvCxnSpPr>
          <p:nvPr/>
        </p:nvCxnSpPr>
        <p:spPr>
          <a:xfrm flipH="1">
            <a:off x="6913808" y="4700831"/>
            <a:ext cx="44432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stCxn id="9" idx="1"/>
            <a:endCxn id="10" idx="3"/>
          </p:cNvCxnSpPr>
          <p:nvPr/>
        </p:nvCxnSpPr>
        <p:spPr>
          <a:xfrm flipH="1" flipV="1">
            <a:off x="3747751" y="4698720"/>
            <a:ext cx="420709" cy="211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10" idx="2"/>
            <a:endCxn id="11" idx="0"/>
          </p:cNvCxnSpPr>
          <p:nvPr/>
        </p:nvCxnSpPr>
        <p:spPr>
          <a:xfrm>
            <a:off x="2375077" y="4956297"/>
            <a:ext cx="0" cy="52800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1" idx="3"/>
            <a:endCxn id="12" idx="1"/>
          </p:cNvCxnSpPr>
          <p:nvPr/>
        </p:nvCxnSpPr>
        <p:spPr>
          <a:xfrm flipV="1">
            <a:off x="3747751" y="5726885"/>
            <a:ext cx="433588" cy="149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2" idx="3"/>
            <a:endCxn id="13" idx="1"/>
          </p:cNvCxnSpPr>
          <p:nvPr/>
        </p:nvCxnSpPr>
        <p:spPr>
          <a:xfrm flipV="1">
            <a:off x="6926687" y="5711895"/>
            <a:ext cx="407831" cy="1499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425000" y="2363293"/>
            <a:ext cx="2745348" cy="515154"/>
          </a:xfrm>
          <a:prstGeom prst="rect">
            <a:avLst/>
          </a:prstGeom>
          <a:no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b="1" dirty="0" smtClean="0">
                <a:solidFill>
                  <a:schemeClr val="tx1"/>
                </a:solidFill>
                <a:sym typeface="Wingdings" pitchFamily="2" charset="2"/>
              </a:rPr>
              <a:t>Consultation Process</a:t>
            </a:r>
            <a:endParaRPr lang="en-US" b="1" dirty="0">
              <a:solidFill>
                <a:schemeClr val="tx1"/>
              </a:solidFill>
            </a:endParaRPr>
          </a:p>
        </p:txBody>
      </p:sp>
      <p:cxnSp>
        <p:nvCxnSpPr>
          <p:cNvPr id="39" name="Straight Arrow Connector 38"/>
          <p:cNvCxnSpPr>
            <a:stCxn id="13" idx="3"/>
          </p:cNvCxnSpPr>
          <p:nvPr/>
        </p:nvCxnSpPr>
        <p:spPr>
          <a:xfrm>
            <a:off x="10079866" y="5711895"/>
            <a:ext cx="274748" cy="749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554013" y="2356873"/>
            <a:ext cx="0" cy="62461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335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a:t>
            </a:r>
            <a:endParaRPr lang="en-US" dirty="0"/>
          </a:p>
        </p:txBody>
      </p:sp>
      <p:sp>
        <p:nvSpPr>
          <p:cNvPr id="4" name="Rectangle 3"/>
          <p:cNvSpPr/>
          <p:nvPr/>
        </p:nvSpPr>
        <p:spPr>
          <a:xfrm>
            <a:off x="809218" y="4436856"/>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Suggest Supply</a:t>
            </a:r>
            <a:endParaRPr lang="en-US" dirty="0">
              <a:solidFill>
                <a:schemeClr val="tx1"/>
              </a:solidFill>
            </a:endParaRPr>
          </a:p>
        </p:txBody>
      </p:sp>
      <p:sp>
        <p:nvSpPr>
          <p:cNvPr id="5" name="Rectangle 4"/>
          <p:cNvSpPr/>
          <p:nvPr/>
        </p:nvSpPr>
        <p:spPr>
          <a:xfrm>
            <a:off x="4067574" y="4436856"/>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Next Follow </a:t>
            </a:r>
            <a:r>
              <a:rPr lang="en-US" dirty="0">
                <a:solidFill>
                  <a:schemeClr val="tx1"/>
                </a:solidFill>
                <a:sym typeface="Wingdings" pitchFamily="2" charset="2"/>
              </a:rPr>
              <a:t>U</a:t>
            </a:r>
            <a:r>
              <a:rPr lang="en-US" dirty="0" smtClean="0">
                <a:solidFill>
                  <a:schemeClr val="tx1"/>
                </a:solidFill>
                <a:sym typeface="Wingdings" pitchFamily="2" charset="2"/>
              </a:rPr>
              <a:t>p</a:t>
            </a:r>
            <a:endParaRPr lang="en-US" dirty="0">
              <a:solidFill>
                <a:schemeClr val="tx1"/>
              </a:solidFill>
            </a:endParaRPr>
          </a:p>
        </p:txBody>
      </p:sp>
      <p:sp>
        <p:nvSpPr>
          <p:cNvPr id="6" name="Rectangle 5"/>
          <p:cNvSpPr/>
          <p:nvPr/>
        </p:nvSpPr>
        <p:spPr>
          <a:xfrm>
            <a:off x="7300172" y="4436856"/>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Add Medical Expense</a:t>
            </a:r>
            <a:endParaRPr lang="en-US" dirty="0">
              <a:solidFill>
                <a:schemeClr val="tx1"/>
              </a:solidFill>
            </a:endParaRPr>
          </a:p>
        </p:txBody>
      </p:sp>
      <p:sp>
        <p:nvSpPr>
          <p:cNvPr id="7" name="Rectangle 6"/>
          <p:cNvSpPr/>
          <p:nvPr/>
        </p:nvSpPr>
        <p:spPr>
          <a:xfrm>
            <a:off x="7306612" y="3462310"/>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a:solidFill>
                  <a:schemeClr val="tx1"/>
                </a:solidFill>
                <a:sym typeface="Wingdings" pitchFamily="2" charset="2"/>
              </a:rPr>
              <a:t>Necessary </a:t>
            </a:r>
            <a:r>
              <a:rPr lang="en-US" dirty="0" smtClean="0">
                <a:solidFill>
                  <a:schemeClr val="tx1"/>
                </a:solidFill>
                <a:sym typeface="Wingdings" pitchFamily="2" charset="2"/>
              </a:rPr>
              <a:t>Imaging Entry</a:t>
            </a:r>
            <a:endParaRPr lang="en-US" dirty="0">
              <a:solidFill>
                <a:schemeClr val="tx1"/>
              </a:solidFill>
            </a:endParaRPr>
          </a:p>
        </p:txBody>
      </p:sp>
      <p:sp>
        <p:nvSpPr>
          <p:cNvPr id="8" name="Rectangle 7"/>
          <p:cNvSpPr/>
          <p:nvPr/>
        </p:nvSpPr>
        <p:spPr>
          <a:xfrm>
            <a:off x="4065428" y="3470931"/>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Prescribe Medicine</a:t>
            </a:r>
            <a:endParaRPr lang="en-US" dirty="0">
              <a:solidFill>
                <a:schemeClr val="tx1"/>
              </a:solidFill>
            </a:endParaRPr>
          </a:p>
        </p:txBody>
      </p:sp>
      <p:sp>
        <p:nvSpPr>
          <p:cNvPr id="9" name="Rectangle 8"/>
          <p:cNvSpPr/>
          <p:nvPr/>
        </p:nvSpPr>
        <p:spPr>
          <a:xfrm>
            <a:off x="809218" y="3458052"/>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Prescribe Service</a:t>
            </a:r>
            <a:endParaRPr lang="en-US" dirty="0">
              <a:solidFill>
                <a:schemeClr val="tx1"/>
              </a:solidFill>
            </a:endParaRPr>
          </a:p>
        </p:txBody>
      </p:sp>
      <p:sp>
        <p:nvSpPr>
          <p:cNvPr id="10" name="Rectangle 9"/>
          <p:cNvSpPr/>
          <p:nvPr/>
        </p:nvSpPr>
        <p:spPr>
          <a:xfrm>
            <a:off x="631061" y="3142449"/>
            <a:ext cx="9672034" cy="213789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p:cNvCxnSpPr>
            <a:stCxn id="7" idx="1"/>
            <a:endCxn id="8" idx="3"/>
          </p:cNvCxnSpPr>
          <p:nvPr/>
        </p:nvCxnSpPr>
        <p:spPr>
          <a:xfrm flipH="1">
            <a:off x="6810776" y="3719887"/>
            <a:ext cx="495836" cy="8621"/>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8" idx="1"/>
            <a:endCxn id="9" idx="3"/>
          </p:cNvCxnSpPr>
          <p:nvPr/>
        </p:nvCxnSpPr>
        <p:spPr>
          <a:xfrm flipH="1" flipV="1">
            <a:off x="3554566" y="3715629"/>
            <a:ext cx="510862" cy="1287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2"/>
            <a:endCxn id="4" idx="0"/>
          </p:cNvCxnSpPr>
          <p:nvPr/>
        </p:nvCxnSpPr>
        <p:spPr>
          <a:xfrm>
            <a:off x="2181892" y="3973206"/>
            <a:ext cx="0" cy="46365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4" idx="3"/>
            <a:endCxn id="5" idx="1"/>
          </p:cNvCxnSpPr>
          <p:nvPr/>
        </p:nvCxnSpPr>
        <p:spPr>
          <a:xfrm>
            <a:off x="3554566" y="4694433"/>
            <a:ext cx="513008"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5" idx="3"/>
            <a:endCxn id="6" idx="1"/>
          </p:cNvCxnSpPr>
          <p:nvPr/>
        </p:nvCxnSpPr>
        <p:spPr>
          <a:xfrm>
            <a:off x="6812922" y="4694433"/>
            <a:ext cx="48725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3554566" y="5748346"/>
            <a:ext cx="3752046"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Finish Consultation Process</a:t>
            </a:r>
            <a:endParaRPr lang="en-US" dirty="0">
              <a:solidFill>
                <a:schemeClr val="tx1"/>
              </a:solidFill>
            </a:endParaRPr>
          </a:p>
        </p:txBody>
      </p:sp>
      <p:cxnSp>
        <p:nvCxnSpPr>
          <p:cNvPr id="25" name="Straight Arrow Connector 24"/>
          <p:cNvCxnSpPr>
            <a:stCxn id="10" idx="2"/>
          </p:cNvCxnSpPr>
          <p:nvPr/>
        </p:nvCxnSpPr>
        <p:spPr>
          <a:xfrm>
            <a:off x="5467078" y="5280342"/>
            <a:ext cx="0" cy="46800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425000" y="2363293"/>
            <a:ext cx="2745348" cy="515154"/>
          </a:xfrm>
          <a:prstGeom prst="rect">
            <a:avLst/>
          </a:prstGeom>
          <a:no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b="1" dirty="0" smtClean="0">
                <a:solidFill>
                  <a:schemeClr val="tx1"/>
                </a:solidFill>
                <a:sym typeface="Wingdings" pitchFamily="2" charset="2"/>
              </a:rPr>
              <a:t>Consultation Process</a:t>
            </a:r>
            <a:endParaRPr lang="en-US" b="1" dirty="0">
              <a:solidFill>
                <a:schemeClr val="tx1"/>
              </a:solidFill>
            </a:endParaRPr>
          </a:p>
        </p:txBody>
      </p:sp>
      <p:cxnSp>
        <p:nvCxnSpPr>
          <p:cNvPr id="30" name="Straight Arrow Connector 29"/>
          <p:cNvCxnSpPr/>
          <p:nvPr/>
        </p:nvCxnSpPr>
        <p:spPr>
          <a:xfrm>
            <a:off x="5482105" y="6263500"/>
            <a:ext cx="7513" cy="30472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59352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Diagram</a:t>
            </a:r>
            <a:endParaRPr lang="en-US" dirty="0"/>
          </a:p>
        </p:txBody>
      </p:sp>
      <p:sp>
        <p:nvSpPr>
          <p:cNvPr id="4" name="Rectangle 3"/>
          <p:cNvSpPr/>
          <p:nvPr/>
        </p:nvSpPr>
        <p:spPr>
          <a:xfrm>
            <a:off x="4554828" y="2801226"/>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Generate Invoice</a:t>
            </a:r>
            <a:endParaRPr lang="en-US" dirty="0">
              <a:solidFill>
                <a:schemeClr val="tx1"/>
              </a:solidFill>
            </a:endParaRPr>
          </a:p>
        </p:txBody>
      </p:sp>
      <p:sp>
        <p:nvSpPr>
          <p:cNvPr id="5" name="Rectangle 4"/>
          <p:cNvSpPr/>
          <p:nvPr/>
        </p:nvSpPr>
        <p:spPr>
          <a:xfrm>
            <a:off x="4554828" y="3767140"/>
            <a:ext cx="2745348" cy="714707"/>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Make Payment</a:t>
            </a:r>
          </a:p>
          <a:p>
            <a:pPr algn="ctr"/>
            <a:r>
              <a:rPr lang="en-US" dirty="0" smtClean="0">
                <a:solidFill>
                  <a:schemeClr val="tx1"/>
                </a:solidFill>
                <a:sym typeface="Wingdings" pitchFamily="2" charset="2"/>
              </a:rPr>
              <a:t>(Cash/Card)</a:t>
            </a:r>
            <a:endParaRPr lang="en-US" dirty="0">
              <a:solidFill>
                <a:schemeClr val="tx1"/>
              </a:solidFill>
            </a:endParaRPr>
          </a:p>
        </p:txBody>
      </p:sp>
      <p:sp>
        <p:nvSpPr>
          <p:cNvPr id="6" name="Rectangle 5"/>
          <p:cNvSpPr/>
          <p:nvPr/>
        </p:nvSpPr>
        <p:spPr>
          <a:xfrm>
            <a:off x="4554828" y="5042149"/>
            <a:ext cx="2745348" cy="515154"/>
          </a:xfrm>
          <a:prstGeom prst="rect">
            <a:avLst/>
          </a:prstGeom>
          <a:noFill/>
          <a:ln>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r>
              <a:rPr lang="en-US" dirty="0" smtClean="0">
                <a:solidFill>
                  <a:schemeClr val="tx1"/>
                </a:solidFill>
                <a:sym typeface="Wingdings" pitchFamily="2" charset="2"/>
              </a:rPr>
              <a:t>Discharge Patient</a:t>
            </a:r>
            <a:endParaRPr lang="en-US" dirty="0">
              <a:solidFill>
                <a:schemeClr val="tx1"/>
              </a:solidFill>
            </a:endParaRPr>
          </a:p>
        </p:txBody>
      </p:sp>
      <p:cxnSp>
        <p:nvCxnSpPr>
          <p:cNvPr id="8" name="Straight Arrow Connector 7"/>
          <p:cNvCxnSpPr>
            <a:stCxn id="4" idx="2"/>
          </p:cNvCxnSpPr>
          <p:nvPr/>
        </p:nvCxnSpPr>
        <p:spPr>
          <a:xfrm>
            <a:off x="5927502" y="3316380"/>
            <a:ext cx="0" cy="4507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5" idx="2"/>
          </p:cNvCxnSpPr>
          <p:nvPr/>
        </p:nvCxnSpPr>
        <p:spPr>
          <a:xfrm>
            <a:off x="5927502" y="4481847"/>
            <a:ext cx="0" cy="560302"/>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4" idx="0"/>
          </p:cNvCxnSpPr>
          <p:nvPr/>
        </p:nvCxnSpPr>
        <p:spPr>
          <a:xfrm>
            <a:off x="5927502" y="2485623"/>
            <a:ext cx="0" cy="31560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492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D5BB0EA-171B-461F-A7C2-E44F76F2CBA2}"/>
              </a:ext>
            </a:extLst>
          </p:cNvPr>
          <p:cNvSpPr>
            <a:spLocks noGrp="1"/>
          </p:cNvSpPr>
          <p:nvPr>
            <p:ph type="title"/>
          </p:nvPr>
        </p:nvSpPr>
        <p:spPr/>
        <p:txBody>
          <a:bodyPr/>
          <a:lstStyle/>
          <a:p>
            <a:r>
              <a:rPr lang="en-US" dirty="0"/>
              <a:t>Demo</a:t>
            </a:r>
          </a:p>
        </p:txBody>
      </p:sp>
      <p:sp>
        <p:nvSpPr>
          <p:cNvPr id="3" name="Content Placeholder 2">
            <a:extLst>
              <a:ext uri="{FF2B5EF4-FFF2-40B4-BE49-F238E27FC236}">
                <a16:creationId xmlns="" xmlns:a16="http://schemas.microsoft.com/office/drawing/2014/main" id="{5BBA19D9-CD89-4219-A978-EBA618A2B387}"/>
              </a:ext>
            </a:extLst>
          </p:cNvPr>
          <p:cNvSpPr>
            <a:spLocks noGrp="1"/>
          </p:cNvSpPr>
          <p:nvPr>
            <p:ph idx="1"/>
          </p:nvPr>
        </p:nvSpPr>
        <p:spPr/>
        <p:txBody>
          <a:bodyPr/>
          <a:lstStyle/>
          <a:p>
            <a:r>
              <a:rPr lang="en-US" dirty="0"/>
              <a:t>The link of </a:t>
            </a:r>
            <a:r>
              <a:rPr lang="en-US" dirty="0" err="1" smtClean="0"/>
              <a:t>PetMatrix</a:t>
            </a:r>
            <a:r>
              <a:rPr lang="en-US" dirty="0" smtClean="0"/>
              <a:t> </a:t>
            </a:r>
            <a:r>
              <a:rPr lang="en-US" dirty="0"/>
              <a:t>application</a:t>
            </a:r>
          </a:p>
          <a:p>
            <a:r>
              <a:rPr lang="en-US" dirty="0">
                <a:hlinkClick r:id="rId2"/>
              </a:rPr>
              <a:t>http://203.83.188.246:8087/#/</a:t>
            </a:r>
            <a:endParaRPr lang="en-US" dirty="0"/>
          </a:p>
          <a:p>
            <a:endParaRPr lang="en-US" dirty="0"/>
          </a:p>
        </p:txBody>
      </p:sp>
    </p:spTree>
    <p:extLst>
      <p:ext uri="{BB962C8B-B14F-4D97-AF65-F5344CB8AC3E}">
        <p14:creationId xmlns:p14="http://schemas.microsoft.com/office/powerpoint/2010/main" val="24948354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9AFA114-CFC4-49D0-AA2A-0056B588C257}"/>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 xmlns:a16="http://schemas.microsoft.com/office/drawing/2014/main" id="{B9B3A729-A307-427C-B278-32C632530763}"/>
              </a:ext>
            </a:extLst>
          </p:cNvPr>
          <p:cNvSpPr>
            <a:spLocks noGrp="1"/>
          </p:cNvSpPr>
          <p:nvPr>
            <p:ph idx="1"/>
          </p:nvPr>
        </p:nvSpPr>
        <p:spPr>
          <a:xfrm>
            <a:off x="1154954" y="2603500"/>
            <a:ext cx="9513045" cy="3416300"/>
          </a:xfrm>
        </p:spPr>
        <p:txBody>
          <a:bodyPr/>
          <a:lstStyle/>
          <a:p>
            <a:r>
              <a:rPr lang="en-US" dirty="0"/>
              <a:t>Thank you everyone for your time.</a:t>
            </a:r>
          </a:p>
        </p:txBody>
      </p:sp>
    </p:spTree>
    <p:extLst>
      <p:ext uri="{BB962C8B-B14F-4D97-AF65-F5344CB8AC3E}">
        <p14:creationId xmlns:p14="http://schemas.microsoft.com/office/powerpoint/2010/main" val="371288449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otalTime>332</TotalTime>
  <Words>232</Words>
  <Application>Microsoft Office PowerPoint</Application>
  <PresentationFormat>Custom</PresentationFormat>
  <Paragraphs>84</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Ion Boardroom</vt:lpstr>
      <vt:lpstr>PetMatrix - Web Application</vt:lpstr>
      <vt:lpstr>Good afternoon and welcome to PetMatrix web application. Thank you all very much for coming today. Happy new year 2019 in advance. This is Surajit Sarkar. I’m presenting on behalf of PetMatrix development team. The purpose of today’s presentation to show PetMatrix application   Prepared by Md Emdadul Haque, Sr Software Engineer (Team Lead) Md Golam Rabbi, Sr. Software Engineer Bipon Biswas , UX/UI Engineer</vt:lpstr>
      <vt:lpstr>Introduction</vt:lpstr>
      <vt:lpstr>Features</vt:lpstr>
      <vt:lpstr>Technology</vt:lpstr>
      <vt:lpstr>Present</vt:lpstr>
      <vt:lpstr>Present</vt:lpstr>
      <vt:lpstr>Present</vt:lpstr>
      <vt:lpstr>Present</vt:lpstr>
      <vt:lpstr>Present</vt:lpstr>
      <vt:lpstr>Present</vt:lpstr>
      <vt:lpstr>Present</vt:lpstr>
      <vt:lpstr>Present</vt:lpstr>
      <vt:lpstr>Present</vt:lpstr>
      <vt:lpstr>Roadmap</vt:lpstr>
      <vt:lpstr>Diagram</vt:lpstr>
      <vt:lpstr>Diagram</vt:lpstr>
      <vt:lpstr>Diagram</vt:lpstr>
      <vt:lpstr>Diagram</vt:lpstr>
      <vt:lpstr>Demo</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Order on Demand App</dc:title>
  <dc:creator>Mostafa Chowdhury</dc:creator>
  <cp:lastModifiedBy>ismail - [2010]</cp:lastModifiedBy>
  <cp:revision>43</cp:revision>
  <dcterms:created xsi:type="dcterms:W3CDTF">2018-10-31T06:18:45Z</dcterms:created>
  <dcterms:modified xsi:type="dcterms:W3CDTF">2019-01-07T10:31:20Z</dcterms:modified>
</cp:coreProperties>
</file>